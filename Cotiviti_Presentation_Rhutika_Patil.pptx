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B9AED6"/>
            </a:solidFill>
            <a:effectLst/>
          </c:spPr>
          <c:invertIfNegative val="0"/>
          <c:dLbls>
            <c:numFmt formatCode="0.0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Rules</c:v>
                  </c:pt>
                  <c:pt idx="1">
                    <c:v>Isolation Forest</c:v>
                  </c:pt>
                  <c:pt idx="2">
                    <c:v>Logistic Regression</c:v>
                  </c:pt>
                </c:lvl>
              </c:multiLvlStrCache>
            </c:multiLvlStrRef>
          </c:cat>
          <c:val>
            <c:numRef>
              <c:f>Sheet1!$B$2:$B$4</c:f>
              <c:numCache>
                <c:formatCode>General</c:formatCode>
                <c:ptCount val="3"/>
                <c:pt idx="0">
                  <c:v>0.46</c:v>
                </c:pt>
                <c:pt idx="1">
                  <c:v>0.36</c:v>
                </c:pt>
                <c:pt idx="2">
                  <c:v>0.64</c:v>
                </c:pt>
              </c:numCache>
            </c:numRef>
          </c:val>
        </c:ser>
        <c:ser>
          <c:idx val="1"/>
          <c:order val="1"/>
          <c:tx>
            <c:strRef>
              <c:f>Sheet1!$C$1</c:f>
              <c:strCache>
                <c:ptCount val="1"/>
                <c:pt idx="0">
                  <c:v>Recall</c:v>
                </c:pt>
              </c:strCache>
            </c:strRef>
          </c:tx>
          <c:spPr>
            <a:solidFill>
              <a:srgbClr val="7B5FB8"/>
            </a:solidFill>
            <a:effectLst/>
          </c:spPr>
          <c:invertIfNegative val="0"/>
          <c:dLbls>
            <c:numFmt formatCode="0.0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Rules</c:v>
                  </c:pt>
                  <c:pt idx="1">
                    <c:v>Isolation Forest</c:v>
                  </c:pt>
                  <c:pt idx="2">
                    <c:v>Logistic Regression</c:v>
                  </c:pt>
                </c:lvl>
              </c:multiLvlStrCache>
            </c:multiLvlStrRef>
          </c:cat>
          <c:val>
            <c:numRef>
              <c:f>Sheet1!$C$2:$C$4</c:f>
              <c:numCache>
                <c:formatCode>General</c:formatCode>
                <c:ptCount val="3"/>
                <c:pt idx="0">
                  <c:v>0.57</c:v>
                </c:pt>
                <c:pt idx="1">
                  <c:v>0.43</c:v>
                </c:pt>
                <c:pt idx="2">
                  <c:v>0.71</c:v>
                </c:pt>
              </c:numCache>
            </c:numRef>
          </c:val>
        </c:ser>
        <c:ser>
          <c:idx val="2"/>
          <c:order val="2"/>
          <c:tx>
            <c:strRef>
              <c:f>Sheet1!$D$1</c:f>
              <c:strCache>
                <c:ptCount val="1"/>
                <c:pt idx="0">
                  <c:v>PR AUC</c:v>
                </c:pt>
              </c:strCache>
            </c:strRef>
          </c:tx>
          <c:spPr>
            <a:solidFill>
              <a:srgbClr val="C2185B"/>
            </a:solidFill>
            <a:effectLst/>
          </c:spPr>
          <c:invertIfNegative val="0"/>
          <c:dLbls>
            <c:numFmt formatCode="0.0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cat>
            <c:multiLvlStrRef>
              <c:f>Sheet1!$A$2:$A$4</c:f>
              <c:multiLvlStrCache>
                <c:ptCount val="3"/>
                <c:lvl>
                  <c:pt idx="0">
                    <c:v>Rules</c:v>
                  </c:pt>
                  <c:pt idx="1">
                    <c:v>Isolation Forest</c:v>
                  </c:pt>
                  <c:pt idx="2">
                    <c:v>Logistic Regression</c:v>
                  </c:pt>
                </c:lvl>
              </c:multiLvlStrCache>
            </c:multiLvlStrRef>
          </c:cat>
          <c:val>
            <c:numRef>
              <c:f>Sheet1!$D$2:$D$4</c:f>
              <c:numCache>
                <c:formatCode>General</c:formatCode>
                <c:ptCount val="3"/>
                <c:pt idx="0">
                  <c:v>0.58</c:v>
                </c:pt>
                <c:pt idx="1">
                  <c:v>0.3</c:v>
                </c:pt>
                <c:pt idx="2">
                  <c:v>0.74</c:v>
                </c:pt>
              </c:numCache>
            </c:numRef>
          </c:val>
        </c:ser>
        <c:dLbls>
          <c:numFmt formatCode="0.00" sourceLinked="0"/>
          <c:txPr>
            <a:bodyPr/>
            <a:lstStyle/>
            <a:p>
              <a:pPr>
                <a:defRPr b="0" i="0" strike="noStrike" sz="9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5E5E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6666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Rhutika. I chose the pattern recognition topic and focused on anomaly detection for payment, since that is the core of Cotiviti's business. I'll cover the problem, the trends, my prototype, and three options for Cotiviti.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CMS estimates almost 29 billion dollars in improper payments in traditional Medicare in fiscal 2025, and another 24 billion in Medicare Advantage. Anomaly detection applies across treatment, payment, and operations. I focused my prototype on payment because it is Cotiviti's core business, and the same method extends to the other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trends. First, the industry is moving from recovering money after payment to stopping errors before payment, with CMS's WISeR model as a clear example. Second, vendors including Cotiviti are adding real time and AI assisted tools. Third, machine learning works, but good labels are rare. Fourth, states are passing laws that say AI can flag, but a person must make the final decision. So explainability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I loaded all four Kaggle files, about 558 thousand claims, and checked data quality. Then I used SQL to roll claims up into one profile per provider, because the fraud labels are at the provider level. After exploring the data and running statistical tests, I compared three methods and produced a ranked review list for auditors.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findings from the exploratory analysis. Only 9.4 percent of providers are labeled potential fraud, but they billed 53 percent of all dollars. Providers with hospital claims are ten times more likely to be flagged. I used the Mann Whitney test because the data is very skewed.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held out test set, logistic regression did best: reviewing just 10 percent of providers, it caught 71 percent of the fraud labeled ones. Simple rules were a strong baseline. Isolation Forest scored lowest, but it used no labels at all and still beat random by more than three times. In practice you want both: unsupervised to find new patterns, supervised for known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auditor will not act on a score alone, so each flagged provider gets a plain English reason from the model weights. One honest caveat: most reasons are about size. The fix is peer group comparison, which is my first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SWOT. The main strength is ranking review work by risk at scale. The main weakness is labels: they are rare and biased. The big opportunity is demand for prepayment review, and the big threat is regulation limiting automated denials.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options. A: a low risk pilot that adds explainable risk scores to prioritize review queues. B: invest in a hybrid model where every reviewer decision becomes a training label. C: position Cotiviti as compliant by design. My recommendation is to start with A, build it to feed B, and market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next steps: peer groups to remove the size bias, claim level checks to catch problems before payment, and validation on real client data. Everything is in the GitHub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254"/>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320040"/>
          </a:xfrm>
          <a:prstGeom prst="rect">
            <a:avLst/>
          </a:prstGeom>
          <a:noFill/>
          <a:ln/>
        </p:spPr>
        <p:txBody>
          <a:bodyPr wrap="square" lIns="0" tIns="0" rIns="0" bIns="0" rtlCol="0" anchor="ctr"/>
          <a:lstStyle/>
          <a:p>
            <a:pPr indent="0" marL="0">
              <a:buNone/>
            </a:pPr>
            <a:r>
              <a:rPr lang="en-US" sz="1300" spc="200" kern="0" dirty="0">
                <a:solidFill>
                  <a:srgbClr val="E8A7C4"/>
                </a:solidFill>
                <a:latin typeface="Calibri" pitchFamily="34" charset="0"/>
                <a:ea typeface="Calibri" pitchFamily="34" charset="-122"/>
                <a:cs typeface="Calibri" pitchFamily="34" charset="-120"/>
              </a:rPr>
              <a:t>PAYMENT INTEGRITY  |  PATTERN RECOGNITION</a:t>
            </a:r>
            <a:endParaRPr lang="en-US" sz="1300" dirty="0"/>
          </a:p>
        </p:txBody>
      </p:sp>
      <p:sp>
        <p:nvSpPr>
          <p:cNvPr id="3" name="Text 1"/>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Catching Improper Payments Earlier</a:t>
            </a:r>
            <a:endParaRPr lang="en-US" sz="3400" dirty="0"/>
          </a:p>
        </p:txBody>
      </p:sp>
      <p:sp>
        <p:nvSpPr>
          <p:cNvPr id="4" name="Text 2"/>
          <p:cNvSpPr txBox="1"/>
          <p:nvPr/>
        </p:nvSpPr>
        <p:spPr>
          <a:xfrm>
            <a:off x="548640" y="2377440"/>
            <a:ext cx="7680960" cy="640080"/>
          </a:xfrm>
          <a:prstGeom prst="rect">
            <a:avLst/>
          </a:prstGeom>
          <a:noFill/>
          <a:ln/>
        </p:spPr>
        <p:txBody>
          <a:bodyPr wrap="square" lIns="0" tIns="0" rIns="0" bIns="0" rtlCol="0" anchor="ctr"/>
          <a:lstStyle/>
          <a:p>
            <a:pPr indent="0" marL="0">
              <a:buNone/>
            </a:pPr>
            <a:r>
              <a:rPr lang="en-US" sz="1800" dirty="0">
                <a:solidFill>
                  <a:srgbClr val="D9D2EC"/>
                </a:solidFill>
                <a:latin typeface="Calibri" pitchFamily="34" charset="0"/>
                <a:ea typeface="Calibri" pitchFamily="34" charset="-122"/>
                <a:cs typeface="Calibri" pitchFamily="34" charset="-120"/>
              </a:rPr>
              <a:t>From simple rules to explainable machine learning, tested on 558,211 Medicare style claims</a:t>
            </a:r>
            <a:endParaRPr lang="en-US" sz="1800" dirty="0"/>
          </a:p>
        </p:txBody>
      </p:sp>
      <p:sp>
        <p:nvSpPr>
          <p:cNvPr id="5" name="Text 3"/>
          <p:cNvSpPr txBox="1"/>
          <p:nvPr/>
        </p:nvSpPr>
        <p:spPr>
          <a:xfrm>
            <a:off x="548640" y="3749040"/>
            <a:ext cx="54864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Rhutika Patil</a:t>
            </a:r>
            <a:endParaRPr lang="en-US" sz="1600" dirty="0"/>
          </a:p>
        </p:txBody>
      </p:sp>
      <p:sp>
        <p:nvSpPr>
          <p:cNvPr id="6" name="Text 4"/>
          <p:cNvSpPr txBox="1"/>
          <p:nvPr/>
        </p:nvSpPr>
        <p:spPr>
          <a:xfrm>
            <a:off x="548640" y="4069080"/>
            <a:ext cx="7315200" cy="274320"/>
          </a:xfrm>
          <a:prstGeom prst="rect">
            <a:avLst/>
          </a:prstGeom>
          <a:noFill/>
          <a:ln/>
        </p:spPr>
        <p:txBody>
          <a:bodyPr wrap="square" lIns="0" tIns="0" rIns="0" bIns="0" rtlCol="0" anchor="ctr"/>
          <a:lstStyle/>
          <a:p>
            <a:pPr indent="0" marL="0">
              <a:buNone/>
            </a:pPr>
            <a:r>
              <a:rPr lang="en-US" sz="1200" dirty="0">
                <a:solidFill>
                  <a:srgbClr val="B9AED6"/>
                </a:solidFill>
                <a:latin typeface="Calibri" pitchFamily="34" charset="0"/>
                <a:ea typeface="Calibri" pitchFamily="34" charset="-122"/>
                <a:cs typeface="Calibri" pitchFamily="34" charset="-120"/>
              </a:rPr>
              <a:t>Cotiviti Intern Assessment  |  Technology Solutions Analyst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The problem: billions paid incorrectly every year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CMS estimates for fiscal year 2025</a:t>
            </a:r>
            <a:endParaRPr lang="en-US" sz="1400" dirty="0"/>
          </a:p>
        </p:txBody>
      </p:sp>
      <p:sp>
        <p:nvSpPr>
          <p:cNvPr id="4" name="Text 2"/>
          <p:cNvSpPr txBox="1"/>
          <p:nvPr/>
        </p:nvSpPr>
        <p:spPr>
          <a:xfrm>
            <a:off x="457200" y="1371600"/>
            <a:ext cx="2926080" cy="731520"/>
          </a:xfrm>
          <a:prstGeom prst="rect">
            <a:avLst/>
          </a:prstGeom>
          <a:noFill/>
          <a:ln/>
        </p:spPr>
        <p:txBody>
          <a:bodyPr wrap="square" lIns="0" tIns="0" rIns="0" bIns="0" rtlCol="0" anchor="ctr"/>
          <a:lstStyle/>
          <a:p>
            <a:pPr indent="0" marL="0">
              <a:buNone/>
            </a:pPr>
            <a:r>
              <a:rPr lang="en-US" sz="4800" b="1" dirty="0">
                <a:solidFill>
                  <a:srgbClr val="C2185B"/>
                </a:solidFill>
                <a:latin typeface="Cambria" pitchFamily="34" charset="0"/>
                <a:ea typeface="Cambria" pitchFamily="34" charset="-122"/>
                <a:cs typeface="Cambria" pitchFamily="34" charset="-120"/>
              </a:rPr>
              <a:t>$28.8B</a:t>
            </a:r>
            <a:endParaRPr lang="en-US" sz="4800" dirty="0"/>
          </a:p>
        </p:txBody>
      </p:sp>
      <p:sp>
        <p:nvSpPr>
          <p:cNvPr id="5" name="Text 3"/>
          <p:cNvSpPr txBox="1"/>
          <p:nvPr/>
        </p:nvSpPr>
        <p:spPr>
          <a:xfrm>
            <a:off x="457200" y="2103120"/>
            <a:ext cx="329184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Medicare fee for service improper payments (6.55%)</a:t>
            </a:r>
            <a:endParaRPr lang="en-US" sz="1300" dirty="0"/>
          </a:p>
        </p:txBody>
      </p:sp>
      <p:sp>
        <p:nvSpPr>
          <p:cNvPr id="6" name="Text 4"/>
          <p:cNvSpPr txBox="1"/>
          <p:nvPr/>
        </p:nvSpPr>
        <p:spPr>
          <a:xfrm>
            <a:off x="457200" y="2743200"/>
            <a:ext cx="2926080" cy="731520"/>
          </a:xfrm>
          <a:prstGeom prst="rect">
            <a:avLst/>
          </a:prstGeom>
          <a:noFill/>
          <a:ln/>
        </p:spPr>
        <p:txBody>
          <a:bodyPr wrap="square" lIns="0" tIns="0" rIns="0" bIns="0" rtlCol="0" anchor="ctr"/>
          <a:lstStyle/>
          <a:p>
            <a:pPr indent="0" marL="0">
              <a:buNone/>
            </a:pPr>
            <a:r>
              <a:rPr lang="en-US" sz="4800" b="1" dirty="0">
                <a:solidFill>
                  <a:srgbClr val="C2185B"/>
                </a:solidFill>
                <a:latin typeface="Cambria" pitchFamily="34" charset="0"/>
                <a:ea typeface="Cambria" pitchFamily="34" charset="-122"/>
                <a:cs typeface="Cambria" pitchFamily="34" charset="-120"/>
              </a:rPr>
              <a:t>$23.7B</a:t>
            </a:r>
            <a:endParaRPr lang="en-US" sz="4800" dirty="0"/>
          </a:p>
        </p:txBody>
      </p:sp>
      <p:sp>
        <p:nvSpPr>
          <p:cNvPr id="7" name="Text 5"/>
          <p:cNvSpPr txBox="1"/>
          <p:nvPr/>
        </p:nvSpPr>
        <p:spPr>
          <a:xfrm>
            <a:off x="457200" y="3474720"/>
            <a:ext cx="3291840" cy="45720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Medicare Advantage improper payments (6.09%)</a:t>
            </a:r>
            <a:endParaRPr lang="en-US" sz="1300" dirty="0"/>
          </a:p>
        </p:txBody>
      </p:sp>
      <p:sp>
        <p:nvSpPr>
          <p:cNvPr id="8" name="Text 6"/>
          <p:cNvSpPr txBox="1"/>
          <p:nvPr/>
        </p:nvSpPr>
        <p:spPr>
          <a:xfrm>
            <a:off x="457200" y="4206240"/>
            <a:ext cx="3840480" cy="457200"/>
          </a:xfrm>
          <a:prstGeom prst="rect">
            <a:avLst/>
          </a:prstGeom>
          <a:noFill/>
          <a:ln/>
        </p:spPr>
        <p:txBody>
          <a:bodyPr wrap="square" lIns="0" tIns="0" rIns="0" bIns="0" rtlCol="0" anchor="ctr"/>
          <a:lstStyle/>
          <a:p>
            <a:pPr indent="0" marL="0">
              <a:buNone/>
            </a:pPr>
            <a:r>
              <a:rPr lang="en-US" sz="1000" i="1" dirty="0">
                <a:solidFill>
                  <a:srgbClr val="666666"/>
                </a:solidFill>
                <a:latin typeface="Calibri" pitchFamily="34" charset="0"/>
                <a:ea typeface="Calibri" pitchFamily="34" charset="-122"/>
                <a:cs typeface="Calibri" pitchFamily="34" charset="-120"/>
              </a:rPr>
              <a:t>Not all improper payments are fraud. Many are documentation errors. Source: CMS (2026)</a:t>
            </a:r>
            <a:endParaRPr lang="en-US" sz="1000" dirty="0"/>
          </a:p>
        </p:txBody>
      </p:sp>
      <p:sp>
        <p:nvSpPr>
          <p:cNvPr id="9" name="Text 7"/>
          <p:cNvSpPr txBox="1"/>
          <p:nvPr/>
        </p:nvSpPr>
        <p:spPr>
          <a:xfrm>
            <a:off x="4754880" y="1280160"/>
            <a:ext cx="3931920" cy="320040"/>
          </a:xfrm>
          <a:prstGeom prst="rect">
            <a:avLst/>
          </a:prstGeom>
          <a:noFill/>
          <a:ln/>
        </p:spPr>
        <p:txBody>
          <a:bodyPr wrap="square" lIns="0" tIns="0" rIns="0" bIns="0" rtlCol="0" anchor="ctr"/>
          <a:lstStyle/>
          <a:p>
            <a:pPr indent="0" marL="0">
              <a:buNone/>
            </a:pPr>
            <a:r>
              <a:rPr lang="en-US" sz="1500" b="1" dirty="0">
                <a:solidFill>
                  <a:srgbClr val="3B1F7A"/>
                </a:solidFill>
                <a:latin typeface="Calibri" pitchFamily="34" charset="0"/>
                <a:ea typeface="Calibri" pitchFamily="34" charset="-122"/>
                <a:cs typeface="Calibri" pitchFamily="34" charset="-120"/>
              </a:rPr>
              <a:t>Anomaly detection across TPO</a:t>
            </a:r>
            <a:endParaRPr lang="en-US" sz="1500" dirty="0"/>
          </a:p>
        </p:txBody>
      </p:sp>
      <p:sp>
        <p:nvSpPr>
          <p:cNvPr id="10" name="Shape 8"/>
          <p:cNvSpPr/>
          <p:nvPr/>
        </p:nvSpPr>
        <p:spPr>
          <a:xfrm>
            <a:off x="4754880" y="1737360"/>
            <a:ext cx="640080" cy="640080"/>
          </a:xfrm>
          <a:prstGeom prst="ellipse">
            <a:avLst/>
          </a:prstGeom>
          <a:solidFill>
            <a:srgbClr val="EFE9F7"/>
          </a:solidFill>
          <a:ln w="12700">
            <a:solidFill>
              <a:srgbClr val="EFE9F7"/>
            </a:solidFill>
            <a:prstDash val="solid"/>
          </a:ln>
        </p:spPr>
      </p:sp>
      <p:sp>
        <p:nvSpPr>
          <p:cNvPr id="11" name="Text 9"/>
          <p:cNvSpPr txBox="1"/>
          <p:nvPr/>
        </p:nvSpPr>
        <p:spPr>
          <a:xfrm>
            <a:off x="4754880" y="1737360"/>
            <a:ext cx="640080" cy="640080"/>
          </a:xfrm>
          <a:prstGeom prst="rect">
            <a:avLst/>
          </a:prstGeom>
          <a:noFill/>
          <a:ln/>
        </p:spPr>
        <p:txBody>
          <a:bodyPr wrap="square" lIns="0" tIns="0" rIns="0" bIns="0" rtlCol="0" anchor="ctr"/>
          <a:lstStyle/>
          <a:p>
            <a:pPr algn="ctr" indent="0" marL="0">
              <a:buNone/>
            </a:pPr>
            <a:r>
              <a:rPr lang="en-US" sz="2200" b="1" dirty="0">
                <a:solidFill>
                  <a:srgbClr val="3B1F7A"/>
                </a:solidFill>
                <a:latin typeface="Cambria" pitchFamily="34" charset="0"/>
                <a:ea typeface="Cambria" pitchFamily="34" charset="-122"/>
                <a:cs typeface="Cambria" pitchFamily="34" charset="-120"/>
              </a:rPr>
              <a:t>T</a:t>
            </a:r>
            <a:endParaRPr lang="en-US" sz="2200" dirty="0"/>
          </a:p>
        </p:txBody>
      </p:sp>
      <p:sp>
        <p:nvSpPr>
          <p:cNvPr id="12" name="Text 10"/>
          <p:cNvSpPr txBox="1"/>
          <p:nvPr/>
        </p:nvSpPr>
        <p:spPr>
          <a:xfrm>
            <a:off x="5532120" y="1737360"/>
            <a:ext cx="3200400" cy="27432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Treatment</a:t>
            </a:r>
            <a:endParaRPr lang="en-US" sz="1400" dirty="0"/>
          </a:p>
        </p:txBody>
      </p:sp>
      <p:sp>
        <p:nvSpPr>
          <p:cNvPr id="13" name="Text 11"/>
          <p:cNvSpPr txBox="1"/>
          <p:nvPr/>
        </p:nvSpPr>
        <p:spPr>
          <a:xfrm>
            <a:off x="5532120" y="2011680"/>
            <a:ext cx="3200400" cy="41148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Unusual prescribing or care that departs from guidelines</a:t>
            </a:r>
            <a:endParaRPr lang="en-US" sz="1100" dirty="0"/>
          </a:p>
        </p:txBody>
      </p:sp>
      <p:sp>
        <p:nvSpPr>
          <p:cNvPr id="14" name="Shape 12"/>
          <p:cNvSpPr/>
          <p:nvPr/>
        </p:nvSpPr>
        <p:spPr>
          <a:xfrm>
            <a:off x="4754880" y="2651760"/>
            <a:ext cx="640080" cy="640080"/>
          </a:xfrm>
          <a:prstGeom prst="ellipse">
            <a:avLst/>
          </a:prstGeom>
          <a:solidFill>
            <a:srgbClr val="C2185B"/>
          </a:solidFill>
          <a:ln w="12700">
            <a:solidFill>
              <a:srgbClr val="C2185B"/>
            </a:solidFill>
            <a:prstDash val="solid"/>
          </a:ln>
        </p:spPr>
      </p:sp>
      <p:sp>
        <p:nvSpPr>
          <p:cNvPr id="15" name="Text 13"/>
          <p:cNvSpPr txBox="1"/>
          <p:nvPr/>
        </p:nvSpPr>
        <p:spPr>
          <a:xfrm>
            <a:off x="4754880" y="26517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a:t>
            </a:r>
            <a:endParaRPr lang="en-US" sz="2200" dirty="0"/>
          </a:p>
        </p:txBody>
      </p:sp>
      <p:sp>
        <p:nvSpPr>
          <p:cNvPr id="16" name="Text 14"/>
          <p:cNvSpPr txBox="1"/>
          <p:nvPr/>
        </p:nvSpPr>
        <p:spPr>
          <a:xfrm>
            <a:off x="5532120" y="2651760"/>
            <a:ext cx="3200400" cy="27432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Payment  (my focus)</a:t>
            </a:r>
            <a:endParaRPr lang="en-US" sz="1400" dirty="0"/>
          </a:p>
        </p:txBody>
      </p:sp>
      <p:sp>
        <p:nvSpPr>
          <p:cNvPr id="17" name="Text 15"/>
          <p:cNvSpPr txBox="1"/>
          <p:nvPr/>
        </p:nvSpPr>
        <p:spPr>
          <a:xfrm>
            <a:off x="5532120" y="2926080"/>
            <a:ext cx="3200400" cy="41148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Claims billed at unusual volume, amount, or combination</a:t>
            </a:r>
            <a:endParaRPr lang="en-US" sz="1100" dirty="0"/>
          </a:p>
        </p:txBody>
      </p:sp>
      <p:sp>
        <p:nvSpPr>
          <p:cNvPr id="18" name="Shape 16"/>
          <p:cNvSpPr/>
          <p:nvPr/>
        </p:nvSpPr>
        <p:spPr>
          <a:xfrm>
            <a:off x="4754880" y="3566160"/>
            <a:ext cx="640080" cy="640080"/>
          </a:xfrm>
          <a:prstGeom prst="ellipse">
            <a:avLst/>
          </a:prstGeom>
          <a:solidFill>
            <a:srgbClr val="EFE9F7"/>
          </a:solidFill>
          <a:ln w="12700">
            <a:solidFill>
              <a:srgbClr val="EFE9F7"/>
            </a:solidFill>
            <a:prstDash val="solid"/>
          </a:ln>
        </p:spPr>
      </p:sp>
      <p:sp>
        <p:nvSpPr>
          <p:cNvPr id="19" name="Text 17"/>
          <p:cNvSpPr txBox="1"/>
          <p:nvPr/>
        </p:nvSpPr>
        <p:spPr>
          <a:xfrm>
            <a:off x="4754880" y="3566160"/>
            <a:ext cx="640080" cy="640080"/>
          </a:xfrm>
          <a:prstGeom prst="rect">
            <a:avLst/>
          </a:prstGeom>
          <a:noFill/>
          <a:ln/>
        </p:spPr>
        <p:txBody>
          <a:bodyPr wrap="square" lIns="0" tIns="0" rIns="0" bIns="0" rtlCol="0" anchor="ctr"/>
          <a:lstStyle/>
          <a:p>
            <a:pPr algn="ctr" indent="0" marL="0">
              <a:buNone/>
            </a:pPr>
            <a:r>
              <a:rPr lang="en-US" sz="2200" b="1" dirty="0">
                <a:solidFill>
                  <a:srgbClr val="3B1F7A"/>
                </a:solidFill>
                <a:latin typeface="Cambria" pitchFamily="34" charset="0"/>
                <a:ea typeface="Cambria" pitchFamily="34" charset="-122"/>
                <a:cs typeface="Cambria" pitchFamily="34" charset="-120"/>
              </a:rPr>
              <a:t>O</a:t>
            </a:r>
            <a:endParaRPr lang="en-US" sz="2200" dirty="0"/>
          </a:p>
        </p:txBody>
      </p:sp>
      <p:sp>
        <p:nvSpPr>
          <p:cNvPr id="20" name="Text 18"/>
          <p:cNvSpPr txBox="1"/>
          <p:nvPr/>
        </p:nvSpPr>
        <p:spPr>
          <a:xfrm>
            <a:off x="5532120" y="3566160"/>
            <a:ext cx="3200400" cy="274320"/>
          </a:xfrm>
          <a:prstGeom prst="rect">
            <a:avLst/>
          </a:prstGeom>
          <a:noFill/>
          <a:ln/>
        </p:spPr>
        <p:txBody>
          <a:bodyPr wrap="square" lIns="0" tIns="0" rIns="0" bIns="0" rtlCol="0" anchor="ctr"/>
          <a:lstStyle/>
          <a:p>
            <a:pPr indent="0" marL="0">
              <a:buNone/>
            </a:pPr>
            <a:r>
              <a:rPr lang="en-US" sz="1400" b="1" dirty="0">
                <a:solidFill>
                  <a:srgbClr val="222222"/>
                </a:solidFill>
                <a:latin typeface="Calibri" pitchFamily="34" charset="0"/>
                <a:ea typeface="Calibri" pitchFamily="34" charset="-122"/>
                <a:cs typeface="Calibri" pitchFamily="34" charset="-120"/>
              </a:rPr>
              <a:t>Operations</a:t>
            </a:r>
            <a:endParaRPr lang="en-US" sz="1400" dirty="0"/>
          </a:p>
        </p:txBody>
      </p:sp>
      <p:sp>
        <p:nvSpPr>
          <p:cNvPr id="21" name="Text 19"/>
          <p:cNvSpPr txBox="1"/>
          <p:nvPr/>
        </p:nvSpPr>
        <p:spPr>
          <a:xfrm>
            <a:off x="5532120" y="3840480"/>
            <a:ext cx="3200400" cy="411480"/>
          </a:xfrm>
          <a:prstGeom prst="rect">
            <a:avLst/>
          </a:prstGeom>
          <a:noFill/>
          <a:ln/>
        </p:spPr>
        <p:txBody>
          <a:bodyPr wrap="square" lIns="0" tIns="0" rIns="0" bIns="0" rtlCol="0" anchor="ctr"/>
          <a:lstStyle/>
          <a:p>
            <a:pPr indent="0" marL="0">
              <a:buNone/>
            </a:pPr>
            <a:r>
              <a:rPr lang="en-US" sz="1100" dirty="0">
                <a:solidFill>
                  <a:srgbClr val="666666"/>
                </a:solidFill>
                <a:latin typeface="Calibri" pitchFamily="34" charset="0"/>
                <a:ea typeface="Calibri" pitchFamily="34" charset="-122"/>
                <a:cs typeface="Calibri" pitchFamily="34" charset="-120"/>
              </a:rPr>
              <a:t>Spikes in denials, delays in claim processing</a:t>
            </a:r>
            <a:endParaRPr lang="en-US" sz="1100" dirty="0"/>
          </a:p>
        </p:txBody>
      </p:sp>
      <p:sp>
        <p:nvSpPr>
          <p:cNvPr id="22" name="Text 20"/>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23" name="Text 2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Four trends shaping payment integrity</a:t>
            </a:r>
            <a:endParaRPr lang="en-US" sz="2800" dirty="0"/>
          </a:p>
        </p:txBody>
      </p:sp>
      <p:sp>
        <p:nvSpPr>
          <p:cNvPr id="3" name="Shape 1"/>
          <p:cNvSpPr/>
          <p:nvPr/>
        </p:nvSpPr>
        <p:spPr>
          <a:xfrm>
            <a:off x="457200" y="1051560"/>
            <a:ext cx="4023360" cy="1600200"/>
          </a:xfrm>
          <a:prstGeom prst="rect">
            <a:avLst/>
          </a:prstGeom>
          <a:solidFill>
            <a:srgbClr val="EFE9F7"/>
          </a:solidFill>
          <a:ln w="12700">
            <a:solidFill>
              <a:srgbClr val="EFE9F7"/>
            </a:solidFill>
            <a:prstDash val="solid"/>
          </a:ln>
        </p:spPr>
      </p:sp>
      <p:sp>
        <p:nvSpPr>
          <p:cNvPr id="4" name="Shape 2"/>
          <p:cNvSpPr/>
          <p:nvPr/>
        </p:nvSpPr>
        <p:spPr>
          <a:xfrm>
            <a:off x="640080" y="1252728"/>
            <a:ext cx="411480" cy="411480"/>
          </a:xfrm>
          <a:prstGeom prst="ellipse">
            <a:avLst/>
          </a:prstGeom>
          <a:solidFill>
            <a:srgbClr val="3B1F7A"/>
          </a:solidFill>
          <a:ln w="12700">
            <a:solidFill>
              <a:srgbClr val="3B1F7A"/>
            </a:solidFill>
            <a:prstDash val="solid"/>
          </a:ln>
        </p:spPr>
      </p:sp>
      <p:sp>
        <p:nvSpPr>
          <p:cNvPr id="5" name="Text 3"/>
          <p:cNvSpPr txBox="1"/>
          <p:nvPr/>
        </p:nvSpPr>
        <p:spPr>
          <a:xfrm>
            <a:off x="640080" y="1252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252728"/>
            <a:ext cx="3108960" cy="4114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Shift to before payment</a:t>
            </a:r>
            <a:endParaRPr lang="en-US" sz="1600" dirty="0"/>
          </a:p>
        </p:txBody>
      </p:sp>
      <p:sp>
        <p:nvSpPr>
          <p:cNvPr id="7" name="Text 5"/>
          <p:cNvSpPr txBox="1"/>
          <p:nvPr/>
        </p:nvSpPr>
        <p:spPr>
          <a:xfrm>
            <a:off x="685800" y="1783080"/>
            <a:ext cx="3611880" cy="7772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CMS launched WISeR in Jan 2026: AI plus human review for prior authorization and prepayment review in six states.</a:t>
            </a:r>
            <a:endParaRPr lang="en-US" sz="1200" dirty="0"/>
          </a:p>
        </p:txBody>
      </p:sp>
      <p:sp>
        <p:nvSpPr>
          <p:cNvPr id="8" name="Shape 6"/>
          <p:cNvSpPr/>
          <p:nvPr/>
        </p:nvSpPr>
        <p:spPr>
          <a:xfrm>
            <a:off x="4663440" y="1051560"/>
            <a:ext cx="4023360" cy="1600200"/>
          </a:xfrm>
          <a:prstGeom prst="rect">
            <a:avLst/>
          </a:prstGeom>
          <a:solidFill>
            <a:srgbClr val="EFE9F7"/>
          </a:solidFill>
          <a:ln w="12700">
            <a:solidFill>
              <a:srgbClr val="EFE9F7"/>
            </a:solidFill>
            <a:prstDash val="solid"/>
          </a:ln>
        </p:spPr>
      </p:sp>
      <p:sp>
        <p:nvSpPr>
          <p:cNvPr id="9" name="Shape 7"/>
          <p:cNvSpPr/>
          <p:nvPr/>
        </p:nvSpPr>
        <p:spPr>
          <a:xfrm>
            <a:off x="4846320" y="1252728"/>
            <a:ext cx="411480" cy="411480"/>
          </a:xfrm>
          <a:prstGeom prst="ellipse">
            <a:avLst/>
          </a:prstGeom>
          <a:solidFill>
            <a:srgbClr val="3B1F7A"/>
          </a:solidFill>
          <a:ln w="12700">
            <a:solidFill>
              <a:srgbClr val="3B1F7A"/>
            </a:solidFill>
            <a:prstDash val="solid"/>
          </a:ln>
        </p:spPr>
      </p:sp>
      <p:sp>
        <p:nvSpPr>
          <p:cNvPr id="10" name="Text 8"/>
          <p:cNvSpPr txBox="1"/>
          <p:nvPr/>
        </p:nvSpPr>
        <p:spPr>
          <a:xfrm>
            <a:off x="4846320" y="1252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5394960" y="1252728"/>
            <a:ext cx="3108960" cy="4114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Real time, AI assisted edits</a:t>
            </a:r>
            <a:endParaRPr lang="en-US" sz="1600" dirty="0"/>
          </a:p>
        </p:txBody>
      </p:sp>
      <p:sp>
        <p:nvSpPr>
          <p:cNvPr id="12" name="Text 10"/>
          <p:cNvSpPr txBox="1"/>
          <p:nvPr/>
        </p:nvSpPr>
        <p:spPr>
          <a:xfrm>
            <a:off x="4892040" y="1783080"/>
            <a:ext cx="3611880" cy="7772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Cotiviti's Aug 2026 Dental Claim Accuracy added real time processing and AI assisted rule authoring.</a:t>
            </a:r>
            <a:endParaRPr lang="en-US" sz="1200" dirty="0"/>
          </a:p>
        </p:txBody>
      </p:sp>
      <p:sp>
        <p:nvSpPr>
          <p:cNvPr id="13" name="Shape 11"/>
          <p:cNvSpPr/>
          <p:nvPr/>
        </p:nvSpPr>
        <p:spPr>
          <a:xfrm>
            <a:off x="457200" y="2834640"/>
            <a:ext cx="4023360" cy="1600200"/>
          </a:xfrm>
          <a:prstGeom prst="rect">
            <a:avLst/>
          </a:prstGeom>
          <a:solidFill>
            <a:srgbClr val="EFE9F7"/>
          </a:solidFill>
          <a:ln w="12700">
            <a:solidFill>
              <a:srgbClr val="EFE9F7"/>
            </a:solidFill>
            <a:prstDash val="solid"/>
          </a:ln>
        </p:spPr>
      </p:sp>
      <p:sp>
        <p:nvSpPr>
          <p:cNvPr id="14" name="Shape 12"/>
          <p:cNvSpPr/>
          <p:nvPr/>
        </p:nvSpPr>
        <p:spPr>
          <a:xfrm>
            <a:off x="640080" y="3035808"/>
            <a:ext cx="411480" cy="411480"/>
          </a:xfrm>
          <a:prstGeom prst="ellipse">
            <a:avLst/>
          </a:prstGeom>
          <a:solidFill>
            <a:srgbClr val="3B1F7A"/>
          </a:solidFill>
          <a:ln w="12700">
            <a:solidFill>
              <a:srgbClr val="3B1F7A"/>
            </a:solidFill>
            <a:prstDash val="solid"/>
          </a:ln>
        </p:spPr>
      </p:sp>
      <p:sp>
        <p:nvSpPr>
          <p:cNvPr id="15" name="Text 13"/>
          <p:cNvSpPr txBox="1"/>
          <p:nvPr/>
        </p:nvSpPr>
        <p:spPr>
          <a:xfrm>
            <a:off x="640080" y="30358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88720" y="3035808"/>
            <a:ext cx="3108960" cy="4114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Rules to learning systems</a:t>
            </a:r>
            <a:endParaRPr lang="en-US" sz="1600" dirty="0"/>
          </a:p>
        </p:txBody>
      </p:sp>
      <p:sp>
        <p:nvSpPr>
          <p:cNvPr id="17" name="Text 15"/>
          <p:cNvSpPr txBox="1"/>
          <p:nvPr/>
        </p:nvSpPr>
        <p:spPr>
          <a:xfrm>
            <a:off x="685800" y="3566160"/>
            <a:ext cx="3611880" cy="7772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Machine learning can flag fraudulent providers, but confirmed labels are rare and biased toward overt cases.</a:t>
            </a:r>
            <a:endParaRPr lang="en-US" sz="1200" dirty="0"/>
          </a:p>
        </p:txBody>
      </p:sp>
      <p:sp>
        <p:nvSpPr>
          <p:cNvPr id="18" name="Shape 16"/>
          <p:cNvSpPr/>
          <p:nvPr/>
        </p:nvSpPr>
        <p:spPr>
          <a:xfrm>
            <a:off x="4663440" y="2834640"/>
            <a:ext cx="4023360" cy="1600200"/>
          </a:xfrm>
          <a:prstGeom prst="rect">
            <a:avLst/>
          </a:prstGeom>
          <a:solidFill>
            <a:srgbClr val="FCEFF4"/>
          </a:solidFill>
          <a:ln w="12700">
            <a:solidFill>
              <a:srgbClr val="FCEFF4"/>
            </a:solidFill>
            <a:prstDash val="solid"/>
          </a:ln>
        </p:spPr>
      </p:sp>
      <p:sp>
        <p:nvSpPr>
          <p:cNvPr id="19" name="Shape 17"/>
          <p:cNvSpPr/>
          <p:nvPr/>
        </p:nvSpPr>
        <p:spPr>
          <a:xfrm>
            <a:off x="4846320" y="3035808"/>
            <a:ext cx="411480" cy="411480"/>
          </a:xfrm>
          <a:prstGeom prst="ellipse">
            <a:avLst/>
          </a:prstGeom>
          <a:solidFill>
            <a:srgbClr val="C2185B"/>
          </a:solidFill>
          <a:ln w="12700">
            <a:solidFill>
              <a:srgbClr val="C2185B"/>
            </a:solidFill>
            <a:prstDash val="solid"/>
          </a:ln>
        </p:spPr>
      </p:sp>
      <p:sp>
        <p:nvSpPr>
          <p:cNvPr id="20" name="Text 18"/>
          <p:cNvSpPr txBox="1"/>
          <p:nvPr/>
        </p:nvSpPr>
        <p:spPr>
          <a:xfrm>
            <a:off x="4846320" y="30358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5394960" y="3035808"/>
            <a:ext cx="3108960" cy="411480"/>
          </a:xfrm>
          <a:prstGeom prst="rect">
            <a:avLst/>
          </a:prstGeom>
          <a:noFill/>
          <a:ln/>
        </p:spPr>
        <p:txBody>
          <a:bodyPr wrap="square" lIns="0" tIns="0" rIns="0" bIns="0" rtlCol="0" anchor="ctr"/>
          <a:lstStyle/>
          <a:p>
            <a:pPr indent="0" marL="0">
              <a:buNone/>
            </a:pPr>
            <a:r>
              <a:rPr lang="en-US" sz="1600" b="1" dirty="0">
                <a:solidFill>
                  <a:srgbClr val="222222"/>
                </a:solidFill>
                <a:latin typeface="Calibri" pitchFamily="34" charset="0"/>
                <a:ea typeface="Calibri" pitchFamily="34" charset="-122"/>
                <a:cs typeface="Calibri" pitchFamily="34" charset="-120"/>
              </a:rPr>
              <a:t>Guardrails are tightening</a:t>
            </a:r>
            <a:endParaRPr lang="en-US" sz="1600" dirty="0"/>
          </a:p>
        </p:txBody>
      </p:sp>
      <p:sp>
        <p:nvSpPr>
          <p:cNvPr id="22" name="Text 20"/>
          <p:cNvSpPr txBox="1"/>
          <p:nvPr/>
        </p:nvSpPr>
        <p:spPr>
          <a:xfrm>
            <a:off x="4892040" y="3566160"/>
            <a:ext cx="3611880" cy="7772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California SB 1120 and 2026 laws in states like Illinois and Georgia: AI can flag, a person must decide.</a:t>
            </a:r>
            <a:endParaRPr lang="en-US" sz="1200" dirty="0"/>
          </a:p>
        </p:txBody>
      </p:sp>
      <p:sp>
        <p:nvSpPr>
          <p:cNvPr id="23" name="Text 21"/>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900" i="1" dirty="0">
                <a:solidFill>
                  <a:srgbClr val="666666"/>
                </a:solidFill>
                <a:latin typeface="Calibri" pitchFamily="34" charset="0"/>
                <a:ea typeface="Calibri" pitchFamily="34" charset="-122"/>
                <a:cs typeface="Calibri" pitchFamily="34" charset="-120"/>
              </a:rPr>
              <a:t>Sources: CMS (2026); Cotiviti (2026); Bauder &amp; Khoshgoftaar (2018); Becker's Payer Issues (2026)</a:t>
            </a:r>
            <a:endParaRPr lang="en-US" sz="900" dirty="0"/>
          </a:p>
        </p:txBody>
      </p:sp>
      <p:sp>
        <p:nvSpPr>
          <p:cNvPr id="24" name="Text 22"/>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25" name="Text 23"/>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My prototype: raw claims to a review list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Kaggle Medicare style data (Gupta, 2019): beneficiary, inpatient, outpatient, and provider labels</a:t>
            </a:r>
            <a:endParaRPr lang="en-US" sz="1400" dirty="0"/>
          </a:p>
        </p:txBody>
      </p:sp>
      <p:sp>
        <p:nvSpPr>
          <p:cNvPr id="4" name="Shape 2"/>
          <p:cNvSpPr/>
          <p:nvPr/>
        </p:nvSpPr>
        <p:spPr>
          <a:xfrm>
            <a:off x="457200" y="1554480"/>
            <a:ext cx="1463040" cy="1920240"/>
          </a:xfrm>
          <a:prstGeom prst="rect">
            <a:avLst/>
          </a:prstGeom>
          <a:solidFill>
            <a:srgbClr val="EFE9F7"/>
          </a:solidFill>
          <a:ln w="12700">
            <a:solidFill>
              <a:srgbClr val="EFE9F7"/>
            </a:solidFill>
            <a:prstDash val="solid"/>
          </a:ln>
        </p:spPr>
      </p:sp>
      <p:sp>
        <p:nvSpPr>
          <p:cNvPr id="5" name="Text 3"/>
          <p:cNvSpPr txBox="1"/>
          <p:nvPr/>
        </p:nvSpPr>
        <p:spPr>
          <a:xfrm>
            <a:off x="457200" y="1691640"/>
            <a:ext cx="1463040" cy="640080"/>
          </a:xfrm>
          <a:prstGeom prst="rect">
            <a:avLst/>
          </a:prstGeom>
          <a:noFill/>
          <a:ln/>
        </p:spPr>
        <p:txBody>
          <a:bodyPr wrap="square" lIns="0" tIns="0" rIns="0" bIns="0" rtlCol="0" anchor="ctr"/>
          <a:lstStyle/>
          <a:p>
            <a:pPr algn="ctr" indent="0" marL="0">
              <a:buNone/>
            </a:pPr>
            <a:r>
              <a:rPr lang="en-US" sz="2800" b="1" dirty="0">
                <a:solidFill>
                  <a:srgbClr val="3B1F7A"/>
                </a:solidFill>
                <a:latin typeface="Cambria" pitchFamily="34" charset="0"/>
                <a:ea typeface="Cambria" pitchFamily="34" charset="-122"/>
                <a:cs typeface="Cambria" pitchFamily="34" charset="-120"/>
              </a:rPr>
              <a:t>558K</a:t>
            </a:r>
            <a:endParaRPr lang="en-US" sz="2800" dirty="0"/>
          </a:p>
        </p:txBody>
      </p:sp>
      <p:sp>
        <p:nvSpPr>
          <p:cNvPr id="6" name="Text 4"/>
          <p:cNvSpPr txBox="1"/>
          <p:nvPr/>
        </p:nvSpPr>
        <p:spPr>
          <a:xfrm>
            <a:off x="530352" y="2377440"/>
            <a:ext cx="1316736"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claims loaded</a:t>
            </a:r>
            <a:endParaRPr lang="en-US" sz="1300" dirty="0"/>
          </a:p>
        </p:txBody>
      </p:sp>
      <p:sp>
        <p:nvSpPr>
          <p:cNvPr id="7" name="Text 5"/>
          <p:cNvSpPr txBox="1"/>
          <p:nvPr/>
        </p:nvSpPr>
        <p:spPr>
          <a:xfrm>
            <a:off x="530352" y="2743200"/>
            <a:ext cx="1316736" cy="6400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4 tables, quality checked</a:t>
            </a:r>
            <a:endParaRPr lang="en-US" sz="1100" dirty="0"/>
          </a:p>
        </p:txBody>
      </p:sp>
      <p:sp>
        <p:nvSpPr>
          <p:cNvPr id="8" name="Text 6"/>
          <p:cNvSpPr txBox="1"/>
          <p:nvPr/>
        </p:nvSpPr>
        <p:spPr>
          <a:xfrm>
            <a:off x="1920240" y="2286000"/>
            <a:ext cx="219456" cy="365760"/>
          </a:xfrm>
          <a:prstGeom prst="rect">
            <a:avLst/>
          </a:prstGeom>
          <a:noFill/>
          <a:ln/>
        </p:spPr>
        <p:txBody>
          <a:bodyPr wrap="square" lIns="0" tIns="0" rIns="0" bIns="0" rtlCol="0" anchor="ctr"/>
          <a:lstStyle/>
          <a:p>
            <a:pPr algn="ctr" indent="0" marL="0">
              <a:buNone/>
            </a:pPr>
            <a:r>
              <a:rPr lang="en-US" sz="1200" dirty="0">
                <a:solidFill>
                  <a:srgbClr val="3B1F7A"/>
                </a:solidFill>
              </a:rPr>
              <a:t>▶</a:t>
            </a:r>
            <a:endParaRPr lang="en-US" sz="1200" dirty="0"/>
          </a:p>
        </p:txBody>
      </p:sp>
      <p:sp>
        <p:nvSpPr>
          <p:cNvPr id="9" name="Shape 7"/>
          <p:cNvSpPr/>
          <p:nvPr/>
        </p:nvSpPr>
        <p:spPr>
          <a:xfrm>
            <a:off x="2139696" y="1554480"/>
            <a:ext cx="1463040" cy="1920240"/>
          </a:xfrm>
          <a:prstGeom prst="rect">
            <a:avLst/>
          </a:prstGeom>
          <a:solidFill>
            <a:srgbClr val="EFE9F7"/>
          </a:solidFill>
          <a:ln w="12700">
            <a:solidFill>
              <a:srgbClr val="EFE9F7"/>
            </a:solidFill>
            <a:prstDash val="solid"/>
          </a:ln>
        </p:spPr>
      </p:sp>
      <p:sp>
        <p:nvSpPr>
          <p:cNvPr id="10" name="Text 8"/>
          <p:cNvSpPr txBox="1"/>
          <p:nvPr/>
        </p:nvSpPr>
        <p:spPr>
          <a:xfrm>
            <a:off x="2139696" y="1691640"/>
            <a:ext cx="1463040" cy="640080"/>
          </a:xfrm>
          <a:prstGeom prst="rect">
            <a:avLst/>
          </a:prstGeom>
          <a:noFill/>
          <a:ln/>
        </p:spPr>
        <p:txBody>
          <a:bodyPr wrap="square" lIns="0" tIns="0" rIns="0" bIns="0" rtlCol="0" anchor="ctr"/>
          <a:lstStyle/>
          <a:p>
            <a:pPr algn="ctr" indent="0" marL="0">
              <a:buNone/>
            </a:pPr>
            <a:r>
              <a:rPr lang="en-US" sz="2800" b="1" dirty="0">
                <a:solidFill>
                  <a:srgbClr val="3B1F7A"/>
                </a:solidFill>
                <a:latin typeface="Cambria" pitchFamily="34" charset="0"/>
                <a:ea typeface="Cambria" pitchFamily="34" charset="-122"/>
                <a:cs typeface="Cambria" pitchFamily="34" charset="-120"/>
              </a:rPr>
              <a:t>SQL</a:t>
            </a:r>
            <a:endParaRPr lang="en-US" sz="2800" dirty="0"/>
          </a:p>
        </p:txBody>
      </p:sp>
      <p:sp>
        <p:nvSpPr>
          <p:cNvPr id="11" name="Text 9"/>
          <p:cNvSpPr txBox="1"/>
          <p:nvPr/>
        </p:nvSpPr>
        <p:spPr>
          <a:xfrm>
            <a:off x="2212848" y="2377440"/>
            <a:ext cx="1316736"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provider profiles</a:t>
            </a:r>
            <a:endParaRPr lang="en-US" sz="1300" dirty="0"/>
          </a:p>
        </p:txBody>
      </p:sp>
      <p:sp>
        <p:nvSpPr>
          <p:cNvPr id="12" name="Text 10"/>
          <p:cNvSpPr txBox="1"/>
          <p:nvPr/>
        </p:nvSpPr>
        <p:spPr>
          <a:xfrm>
            <a:off x="2212848" y="2743200"/>
            <a:ext cx="1316736" cy="6400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5,410 providers, 19 features</a:t>
            </a:r>
            <a:endParaRPr lang="en-US" sz="1100" dirty="0"/>
          </a:p>
        </p:txBody>
      </p:sp>
      <p:sp>
        <p:nvSpPr>
          <p:cNvPr id="13" name="Text 11"/>
          <p:cNvSpPr txBox="1"/>
          <p:nvPr/>
        </p:nvSpPr>
        <p:spPr>
          <a:xfrm>
            <a:off x="3602736" y="2286000"/>
            <a:ext cx="219456" cy="365760"/>
          </a:xfrm>
          <a:prstGeom prst="rect">
            <a:avLst/>
          </a:prstGeom>
          <a:noFill/>
          <a:ln/>
        </p:spPr>
        <p:txBody>
          <a:bodyPr wrap="square" lIns="0" tIns="0" rIns="0" bIns="0" rtlCol="0" anchor="ctr"/>
          <a:lstStyle/>
          <a:p>
            <a:pPr algn="ctr" indent="0" marL="0">
              <a:buNone/>
            </a:pPr>
            <a:r>
              <a:rPr lang="en-US" sz="1200" dirty="0">
                <a:solidFill>
                  <a:srgbClr val="3B1F7A"/>
                </a:solidFill>
              </a:rPr>
              <a:t>▶</a:t>
            </a:r>
            <a:endParaRPr lang="en-US" sz="1200" dirty="0"/>
          </a:p>
        </p:txBody>
      </p:sp>
      <p:sp>
        <p:nvSpPr>
          <p:cNvPr id="14" name="Shape 12"/>
          <p:cNvSpPr/>
          <p:nvPr/>
        </p:nvSpPr>
        <p:spPr>
          <a:xfrm>
            <a:off x="3822192" y="1554480"/>
            <a:ext cx="1463040" cy="1920240"/>
          </a:xfrm>
          <a:prstGeom prst="rect">
            <a:avLst/>
          </a:prstGeom>
          <a:solidFill>
            <a:srgbClr val="EFE9F7"/>
          </a:solidFill>
          <a:ln w="12700">
            <a:solidFill>
              <a:srgbClr val="EFE9F7"/>
            </a:solidFill>
            <a:prstDash val="solid"/>
          </a:ln>
        </p:spPr>
      </p:sp>
      <p:sp>
        <p:nvSpPr>
          <p:cNvPr id="15" name="Text 13"/>
          <p:cNvSpPr txBox="1"/>
          <p:nvPr/>
        </p:nvSpPr>
        <p:spPr>
          <a:xfrm>
            <a:off x="3822192" y="1691640"/>
            <a:ext cx="1463040" cy="640080"/>
          </a:xfrm>
          <a:prstGeom prst="rect">
            <a:avLst/>
          </a:prstGeom>
          <a:noFill/>
          <a:ln/>
        </p:spPr>
        <p:txBody>
          <a:bodyPr wrap="square" lIns="0" tIns="0" rIns="0" bIns="0" rtlCol="0" anchor="ctr"/>
          <a:lstStyle/>
          <a:p>
            <a:pPr algn="ctr" indent="0" marL="0">
              <a:buNone/>
            </a:pPr>
            <a:r>
              <a:rPr lang="en-US" sz="2800" b="1" dirty="0">
                <a:solidFill>
                  <a:srgbClr val="3B1F7A"/>
                </a:solidFill>
                <a:latin typeface="Cambria" pitchFamily="34" charset="0"/>
                <a:ea typeface="Cambria" pitchFamily="34" charset="-122"/>
                <a:cs typeface="Cambria" pitchFamily="34" charset="-120"/>
              </a:rPr>
              <a:t>Stats</a:t>
            </a:r>
            <a:endParaRPr lang="en-US" sz="2800" dirty="0"/>
          </a:p>
        </p:txBody>
      </p:sp>
      <p:sp>
        <p:nvSpPr>
          <p:cNvPr id="16" name="Text 14"/>
          <p:cNvSpPr txBox="1"/>
          <p:nvPr/>
        </p:nvSpPr>
        <p:spPr>
          <a:xfrm>
            <a:off x="3895344" y="2377440"/>
            <a:ext cx="1316736"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EDA and tests</a:t>
            </a:r>
            <a:endParaRPr lang="en-US" sz="1300" dirty="0"/>
          </a:p>
        </p:txBody>
      </p:sp>
      <p:sp>
        <p:nvSpPr>
          <p:cNvPr id="17" name="Text 15"/>
          <p:cNvSpPr txBox="1"/>
          <p:nvPr/>
        </p:nvSpPr>
        <p:spPr>
          <a:xfrm>
            <a:off x="3895344" y="2743200"/>
            <a:ext cx="1316736" cy="6400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Mann Whitney, z scores</a:t>
            </a:r>
            <a:endParaRPr lang="en-US" sz="1100" dirty="0"/>
          </a:p>
        </p:txBody>
      </p:sp>
      <p:sp>
        <p:nvSpPr>
          <p:cNvPr id="18" name="Text 16"/>
          <p:cNvSpPr txBox="1"/>
          <p:nvPr/>
        </p:nvSpPr>
        <p:spPr>
          <a:xfrm>
            <a:off x="5285232" y="2286000"/>
            <a:ext cx="219456" cy="365760"/>
          </a:xfrm>
          <a:prstGeom prst="rect">
            <a:avLst/>
          </a:prstGeom>
          <a:noFill/>
          <a:ln/>
        </p:spPr>
        <p:txBody>
          <a:bodyPr wrap="square" lIns="0" tIns="0" rIns="0" bIns="0" rtlCol="0" anchor="ctr"/>
          <a:lstStyle/>
          <a:p>
            <a:pPr algn="ctr" indent="0" marL="0">
              <a:buNone/>
            </a:pPr>
            <a:r>
              <a:rPr lang="en-US" sz="1200" dirty="0">
                <a:solidFill>
                  <a:srgbClr val="3B1F7A"/>
                </a:solidFill>
              </a:rPr>
              <a:t>▶</a:t>
            </a:r>
            <a:endParaRPr lang="en-US" sz="1200" dirty="0"/>
          </a:p>
        </p:txBody>
      </p:sp>
      <p:sp>
        <p:nvSpPr>
          <p:cNvPr id="19" name="Shape 17"/>
          <p:cNvSpPr/>
          <p:nvPr/>
        </p:nvSpPr>
        <p:spPr>
          <a:xfrm>
            <a:off x="5504688" y="1554480"/>
            <a:ext cx="1463040" cy="1920240"/>
          </a:xfrm>
          <a:prstGeom prst="rect">
            <a:avLst/>
          </a:prstGeom>
          <a:solidFill>
            <a:srgbClr val="EFE9F7"/>
          </a:solidFill>
          <a:ln w="12700">
            <a:solidFill>
              <a:srgbClr val="EFE9F7"/>
            </a:solidFill>
            <a:prstDash val="solid"/>
          </a:ln>
        </p:spPr>
      </p:sp>
      <p:sp>
        <p:nvSpPr>
          <p:cNvPr id="20" name="Text 18"/>
          <p:cNvSpPr txBox="1"/>
          <p:nvPr/>
        </p:nvSpPr>
        <p:spPr>
          <a:xfrm>
            <a:off x="5504688" y="1691640"/>
            <a:ext cx="1463040" cy="640080"/>
          </a:xfrm>
          <a:prstGeom prst="rect">
            <a:avLst/>
          </a:prstGeom>
          <a:noFill/>
          <a:ln/>
        </p:spPr>
        <p:txBody>
          <a:bodyPr wrap="square" lIns="0" tIns="0" rIns="0" bIns="0" rtlCol="0" anchor="ctr"/>
          <a:lstStyle/>
          <a:p>
            <a:pPr algn="ctr" indent="0" marL="0">
              <a:buNone/>
            </a:pPr>
            <a:r>
              <a:rPr lang="en-US" sz="2800" b="1" dirty="0">
                <a:solidFill>
                  <a:srgbClr val="3B1F7A"/>
                </a:solidFill>
                <a:latin typeface="Cambria" pitchFamily="34" charset="0"/>
                <a:ea typeface="Cambria" pitchFamily="34" charset="-122"/>
                <a:cs typeface="Cambria" pitchFamily="34" charset="-120"/>
              </a:rPr>
              <a:t>3</a:t>
            </a:r>
            <a:endParaRPr lang="en-US" sz="2800" dirty="0"/>
          </a:p>
        </p:txBody>
      </p:sp>
      <p:sp>
        <p:nvSpPr>
          <p:cNvPr id="21" name="Text 19"/>
          <p:cNvSpPr txBox="1"/>
          <p:nvPr/>
        </p:nvSpPr>
        <p:spPr>
          <a:xfrm>
            <a:off x="5577840" y="2377440"/>
            <a:ext cx="1316736" cy="365760"/>
          </a:xfrm>
          <a:prstGeom prst="rect">
            <a:avLst/>
          </a:prstGeom>
          <a:noFill/>
          <a:ln/>
        </p:spPr>
        <p:txBody>
          <a:bodyPr wrap="square" lIns="0" tIns="0" rIns="0" bIns="0" rtlCol="0" anchor="ctr"/>
          <a:lstStyle/>
          <a:p>
            <a:pPr algn="ctr" indent="0" marL="0">
              <a:buNone/>
            </a:pPr>
            <a:r>
              <a:rPr lang="en-US" sz="1300" b="1" dirty="0">
                <a:solidFill>
                  <a:srgbClr val="222222"/>
                </a:solidFill>
                <a:latin typeface="Calibri" pitchFamily="34" charset="0"/>
                <a:ea typeface="Calibri" pitchFamily="34" charset="-122"/>
                <a:cs typeface="Calibri" pitchFamily="34" charset="-120"/>
              </a:rPr>
              <a:t>methods compared</a:t>
            </a:r>
            <a:endParaRPr lang="en-US" sz="1300" dirty="0"/>
          </a:p>
        </p:txBody>
      </p:sp>
      <p:sp>
        <p:nvSpPr>
          <p:cNvPr id="22" name="Text 20"/>
          <p:cNvSpPr txBox="1"/>
          <p:nvPr/>
        </p:nvSpPr>
        <p:spPr>
          <a:xfrm>
            <a:off x="5577840" y="2743200"/>
            <a:ext cx="1316736" cy="640080"/>
          </a:xfrm>
          <a:prstGeom prst="rect">
            <a:avLst/>
          </a:prstGeom>
          <a:noFill/>
          <a:ln/>
        </p:spPr>
        <p:txBody>
          <a:bodyPr wrap="square" lIns="0" tIns="0" rIns="0" bIns="0" rtlCol="0" anchor="ctr"/>
          <a:lstStyle/>
          <a:p>
            <a:pPr algn="ctr" indent="0" marL="0">
              <a:buNone/>
            </a:pPr>
            <a:r>
              <a:rPr lang="en-US" sz="1100" dirty="0">
                <a:solidFill>
                  <a:srgbClr val="666666"/>
                </a:solidFill>
                <a:latin typeface="Calibri" pitchFamily="34" charset="0"/>
                <a:ea typeface="Calibri" pitchFamily="34" charset="-122"/>
                <a:cs typeface="Calibri" pitchFamily="34" charset="-120"/>
              </a:rPr>
              <a:t>Rules, Isolation Forest, Logistic Regression</a:t>
            </a:r>
            <a:endParaRPr lang="en-US" sz="1100" dirty="0"/>
          </a:p>
        </p:txBody>
      </p:sp>
      <p:sp>
        <p:nvSpPr>
          <p:cNvPr id="23" name="Text 21"/>
          <p:cNvSpPr txBox="1"/>
          <p:nvPr/>
        </p:nvSpPr>
        <p:spPr>
          <a:xfrm>
            <a:off x="6967728" y="2286000"/>
            <a:ext cx="219456" cy="365760"/>
          </a:xfrm>
          <a:prstGeom prst="rect">
            <a:avLst/>
          </a:prstGeom>
          <a:noFill/>
          <a:ln/>
        </p:spPr>
        <p:txBody>
          <a:bodyPr wrap="square" lIns="0" tIns="0" rIns="0" bIns="0" rtlCol="0" anchor="ctr"/>
          <a:lstStyle/>
          <a:p>
            <a:pPr algn="ctr" indent="0" marL="0">
              <a:buNone/>
            </a:pPr>
            <a:r>
              <a:rPr lang="en-US" sz="1200" dirty="0">
                <a:solidFill>
                  <a:srgbClr val="3B1F7A"/>
                </a:solidFill>
              </a:rPr>
              <a:t>▶</a:t>
            </a:r>
            <a:endParaRPr lang="en-US" sz="1200" dirty="0"/>
          </a:p>
        </p:txBody>
      </p:sp>
      <p:sp>
        <p:nvSpPr>
          <p:cNvPr id="24" name="Shape 22"/>
          <p:cNvSpPr/>
          <p:nvPr/>
        </p:nvSpPr>
        <p:spPr>
          <a:xfrm>
            <a:off x="7187184" y="1554480"/>
            <a:ext cx="1463040" cy="1920240"/>
          </a:xfrm>
          <a:prstGeom prst="rect">
            <a:avLst/>
          </a:prstGeom>
          <a:solidFill>
            <a:srgbClr val="C2185B"/>
          </a:solidFill>
          <a:ln w="12700">
            <a:solidFill>
              <a:srgbClr val="C2185B"/>
            </a:solidFill>
            <a:prstDash val="solid"/>
          </a:ln>
        </p:spPr>
      </p:sp>
      <p:sp>
        <p:nvSpPr>
          <p:cNvPr id="25" name="Text 23"/>
          <p:cNvSpPr txBox="1"/>
          <p:nvPr/>
        </p:nvSpPr>
        <p:spPr>
          <a:xfrm>
            <a:off x="7187184" y="1691640"/>
            <a:ext cx="146304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List</a:t>
            </a:r>
            <a:endParaRPr lang="en-US" sz="2800" dirty="0"/>
          </a:p>
        </p:txBody>
      </p:sp>
      <p:sp>
        <p:nvSpPr>
          <p:cNvPr id="26" name="Text 24"/>
          <p:cNvSpPr txBox="1"/>
          <p:nvPr/>
        </p:nvSpPr>
        <p:spPr>
          <a:xfrm>
            <a:off x="7260336" y="2377440"/>
            <a:ext cx="1316736"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 auditors</a:t>
            </a:r>
            <a:endParaRPr lang="en-US" sz="1300" dirty="0"/>
          </a:p>
        </p:txBody>
      </p:sp>
      <p:sp>
        <p:nvSpPr>
          <p:cNvPr id="27" name="Text 25"/>
          <p:cNvSpPr txBox="1"/>
          <p:nvPr/>
        </p:nvSpPr>
        <p:spPr>
          <a:xfrm>
            <a:off x="7260336" y="2743200"/>
            <a:ext cx="1316736" cy="64008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ranked, with a reason</a:t>
            </a:r>
            <a:endParaRPr lang="en-US" sz="1100" dirty="0"/>
          </a:p>
        </p:txBody>
      </p:sp>
      <p:sp>
        <p:nvSpPr>
          <p:cNvPr id="28" name="Text 26"/>
          <p:cNvSpPr txBox="1"/>
          <p:nvPr/>
        </p:nvSpPr>
        <p:spPr>
          <a:xfrm>
            <a:off x="457200" y="3749040"/>
            <a:ext cx="8229600" cy="548640"/>
          </a:xfrm>
          <a:prstGeom prst="rect">
            <a:avLst/>
          </a:prstGeom>
          <a:noFill/>
          <a:ln/>
        </p:spPr>
        <p:txBody>
          <a:bodyPr wrap="square" lIns="0" tIns="0" rIns="0" bIns="0" rtlCol="0" anchor="ctr"/>
          <a:lstStyle/>
          <a:p>
            <a:pPr indent="0" marL="0">
              <a:buNone/>
            </a:pPr>
            <a:r>
              <a:rPr lang="en-US" sz="1300" b="1" dirty="0">
                <a:solidFill>
                  <a:srgbClr val="3B1F7A"/>
                </a:solidFill>
                <a:latin typeface="Calibri" pitchFamily="34" charset="0"/>
                <a:ea typeface="Calibri" pitchFamily="34" charset="-122"/>
                <a:cs typeface="Calibri" pitchFamily="34" charset="-120"/>
              </a:rPr>
              <a:t>Why provider level? </a:t>
            </a:r>
            <a:pPr indent="0" marL="0">
              <a:buNone/>
            </a:pPr>
            <a:r>
              <a:rPr lang="en-US" sz="1300" dirty="0">
                <a:solidFill>
                  <a:srgbClr val="222222"/>
                </a:solidFill>
                <a:latin typeface="Calibri" pitchFamily="34" charset="0"/>
                <a:ea typeface="Calibri" pitchFamily="34" charset="-122"/>
                <a:cs typeface="Calibri" pitchFamily="34" charset="-120"/>
              </a:rPr>
              <a:t>Fraud labels are given per provider, so each provider's claims are summed into one profile, like turning sequencing reads into a gene count matrix.</a:t>
            </a:r>
            <a:endParaRPr lang="en-US" sz="1300" dirty="0"/>
          </a:p>
        </p:txBody>
      </p:sp>
      <p:sp>
        <p:nvSpPr>
          <p:cNvPr id="29" name="Text 27"/>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30" name="Text 28"/>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What the data shows</a:t>
            </a:r>
            <a:endParaRPr lang="en-US" sz="2800" dirty="0"/>
          </a:p>
        </p:txBody>
      </p:sp>
      <p:pic>
        <p:nvPicPr>
          <p:cNvPr id="3" name="Image 0" descr="fraudtype_left.png">    </p:cNvPr>
          <p:cNvPicPr>
            <a:picLocks noChangeAspect="1"/>
          </p:cNvPicPr>
          <p:nvPr/>
        </p:nvPicPr>
        <p:blipFill>
          <a:blip r:embed="rId1"/>
          <a:stretch>
            <a:fillRect/>
          </a:stretch>
        </p:blipFill>
        <p:spPr>
          <a:xfrm>
            <a:off x="457200" y="1005840"/>
            <a:ext cx="4023360" cy="2715768"/>
          </a:xfrm>
          <a:prstGeom prst="rect">
            <a:avLst/>
          </a:prstGeom>
        </p:spPr>
      </p:pic>
      <p:sp>
        <p:nvSpPr>
          <p:cNvPr id="4" name="Text 1"/>
          <p:cNvSpPr txBox="1"/>
          <p:nvPr/>
        </p:nvSpPr>
        <p:spPr>
          <a:xfrm>
            <a:off x="4846320" y="1005840"/>
            <a:ext cx="1737360" cy="548640"/>
          </a:xfrm>
          <a:prstGeom prst="rect">
            <a:avLst/>
          </a:prstGeom>
          <a:noFill/>
          <a:ln/>
        </p:spPr>
        <p:txBody>
          <a:bodyPr wrap="square" lIns="0" tIns="0" rIns="0" bIns="0" rtlCol="0" anchor="ctr"/>
          <a:lstStyle/>
          <a:p>
            <a:pPr indent="0" marL="0">
              <a:buNone/>
            </a:pPr>
            <a:r>
              <a:rPr lang="en-US" sz="3000" b="1" dirty="0">
                <a:solidFill>
                  <a:srgbClr val="3B1F7A"/>
                </a:solidFill>
                <a:latin typeface="Cambria" pitchFamily="34" charset="0"/>
                <a:ea typeface="Cambria" pitchFamily="34" charset="-122"/>
                <a:cs typeface="Cambria" pitchFamily="34" charset="-120"/>
              </a:rPr>
              <a:t>9.4%</a:t>
            </a:r>
            <a:endParaRPr lang="en-US" sz="3000" dirty="0"/>
          </a:p>
        </p:txBody>
      </p:sp>
      <p:sp>
        <p:nvSpPr>
          <p:cNvPr id="5" name="Text 2"/>
          <p:cNvSpPr txBox="1"/>
          <p:nvPr/>
        </p:nvSpPr>
        <p:spPr>
          <a:xfrm>
            <a:off x="6629400" y="1005840"/>
            <a:ext cx="2103120" cy="6400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of providers are labeled potential fraud...</a:t>
            </a:r>
            <a:endParaRPr lang="en-US" sz="1200" dirty="0"/>
          </a:p>
        </p:txBody>
      </p:sp>
      <p:sp>
        <p:nvSpPr>
          <p:cNvPr id="6" name="Text 3"/>
          <p:cNvSpPr txBox="1"/>
          <p:nvPr/>
        </p:nvSpPr>
        <p:spPr>
          <a:xfrm>
            <a:off x="4846320" y="1874520"/>
            <a:ext cx="1737360" cy="548640"/>
          </a:xfrm>
          <a:prstGeom prst="rect">
            <a:avLst/>
          </a:prstGeom>
          <a:noFill/>
          <a:ln/>
        </p:spPr>
        <p:txBody>
          <a:bodyPr wrap="square" lIns="0" tIns="0" rIns="0" bIns="0" rtlCol="0" anchor="ctr"/>
          <a:lstStyle/>
          <a:p>
            <a:pPr indent="0" marL="0">
              <a:buNone/>
            </a:pPr>
            <a:r>
              <a:rPr lang="en-US" sz="3000" b="1" dirty="0">
                <a:solidFill>
                  <a:srgbClr val="C2185B"/>
                </a:solidFill>
                <a:latin typeface="Cambria" pitchFamily="34" charset="0"/>
                <a:ea typeface="Cambria" pitchFamily="34" charset="-122"/>
                <a:cs typeface="Cambria" pitchFamily="34" charset="-120"/>
              </a:rPr>
              <a:t>53%</a:t>
            </a:r>
            <a:endParaRPr lang="en-US" sz="3000" dirty="0"/>
          </a:p>
        </p:txBody>
      </p:sp>
      <p:sp>
        <p:nvSpPr>
          <p:cNvPr id="7" name="Text 4"/>
          <p:cNvSpPr txBox="1"/>
          <p:nvPr/>
        </p:nvSpPr>
        <p:spPr>
          <a:xfrm>
            <a:off x="6629400" y="1874520"/>
            <a:ext cx="2103120" cy="6400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...yet they billed over half of all dollars</a:t>
            </a:r>
            <a:endParaRPr lang="en-US" sz="1200" dirty="0"/>
          </a:p>
        </p:txBody>
      </p:sp>
      <p:sp>
        <p:nvSpPr>
          <p:cNvPr id="8" name="Text 5"/>
          <p:cNvSpPr txBox="1"/>
          <p:nvPr/>
        </p:nvSpPr>
        <p:spPr>
          <a:xfrm>
            <a:off x="4846320" y="2743200"/>
            <a:ext cx="1737360" cy="548640"/>
          </a:xfrm>
          <a:prstGeom prst="rect">
            <a:avLst/>
          </a:prstGeom>
          <a:noFill/>
          <a:ln/>
        </p:spPr>
        <p:txBody>
          <a:bodyPr wrap="square" lIns="0" tIns="0" rIns="0" bIns="0" rtlCol="0" anchor="ctr"/>
          <a:lstStyle/>
          <a:p>
            <a:pPr indent="0" marL="0">
              <a:buNone/>
            </a:pPr>
            <a:r>
              <a:rPr lang="en-US" sz="2200" b="1" dirty="0">
                <a:solidFill>
                  <a:srgbClr val="3B1F7A"/>
                </a:solidFill>
                <a:latin typeface="Cambria" pitchFamily="34" charset="0"/>
                <a:ea typeface="Cambria" pitchFamily="34" charset="-122"/>
                <a:cs typeface="Cambria" pitchFamily="34" charset="-120"/>
              </a:rPr>
              <a:t>21% vs 2%</a:t>
            </a:r>
            <a:endParaRPr lang="en-US" sz="2200" dirty="0"/>
          </a:p>
        </p:txBody>
      </p:sp>
      <p:sp>
        <p:nvSpPr>
          <p:cNvPr id="9" name="Text 6"/>
          <p:cNvSpPr txBox="1"/>
          <p:nvPr/>
        </p:nvSpPr>
        <p:spPr>
          <a:xfrm>
            <a:off x="6629400" y="2743200"/>
            <a:ext cx="2103120" cy="6400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fraud rate: providers with inpatient claims vs outpatient only</a:t>
            </a:r>
            <a:endParaRPr lang="en-US" sz="1200" dirty="0"/>
          </a:p>
        </p:txBody>
      </p:sp>
      <p:sp>
        <p:nvSpPr>
          <p:cNvPr id="10" name="Text 7"/>
          <p:cNvSpPr txBox="1"/>
          <p:nvPr/>
        </p:nvSpPr>
        <p:spPr>
          <a:xfrm>
            <a:off x="4846320" y="3611880"/>
            <a:ext cx="1737360" cy="548640"/>
          </a:xfrm>
          <a:prstGeom prst="rect">
            <a:avLst/>
          </a:prstGeom>
          <a:noFill/>
          <a:ln/>
        </p:spPr>
        <p:txBody>
          <a:bodyPr wrap="square" lIns="0" tIns="0" rIns="0" bIns="0" rtlCol="0" anchor="ctr"/>
          <a:lstStyle/>
          <a:p>
            <a:pPr indent="0" marL="0">
              <a:buNone/>
            </a:pPr>
            <a:r>
              <a:rPr lang="en-US" sz="3000" b="1" dirty="0">
                <a:solidFill>
                  <a:srgbClr val="3B1F7A"/>
                </a:solidFill>
                <a:latin typeface="Cambria" pitchFamily="34" charset="0"/>
                <a:ea typeface="Cambria" pitchFamily="34" charset="-122"/>
                <a:cs typeface="Cambria" pitchFamily="34" charset="-120"/>
              </a:rPr>
              <a:t>25x</a:t>
            </a:r>
            <a:endParaRPr lang="en-US" sz="3000" dirty="0"/>
          </a:p>
        </p:txBody>
      </p:sp>
      <p:sp>
        <p:nvSpPr>
          <p:cNvPr id="11" name="Text 8"/>
          <p:cNvSpPr txBox="1"/>
          <p:nvPr/>
        </p:nvSpPr>
        <p:spPr>
          <a:xfrm>
            <a:off x="6629400" y="3611880"/>
            <a:ext cx="2103120" cy="6400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higher median total billing for fraud labeled providers</a:t>
            </a:r>
            <a:endParaRPr lang="en-US" sz="1200" dirty="0"/>
          </a:p>
        </p:txBody>
      </p:sp>
      <p:sp>
        <p:nvSpPr>
          <p:cNvPr id="12" name="Text 9"/>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100" i="1" dirty="0">
                <a:solidFill>
                  <a:srgbClr val="666666"/>
                </a:solidFill>
                <a:latin typeface="Calibri" pitchFamily="34" charset="0"/>
                <a:ea typeface="Calibri" pitchFamily="34" charset="-122"/>
                <a:cs typeface="Calibri" pitchFamily="34" charset="-120"/>
              </a:rPr>
              <a:t>All group differences tested with Mann Whitney U (non parametric, suits skewed data).</a:t>
            </a:r>
            <a:endParaRPr lang="en-US" sz="1100" dirty="0"/>
          </a:p>
        </p:txBody>
      </p:sp>
      <p:sp>
        <p:nvSpPr>
          <p:cNvPr id="13" name="Text 10"/>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14" name="Text 11"/>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Results: Logistic Regression ranks best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Held out test set of 1,082 providers; auditors review the top 10%</a:t>
            </a:r>
            <a:endParaRPr lang="en-US" sz="1400" dirty="0"/>
          </a:p>
        </p:txBody>
      </p:sp>
      <p:graphicFrame>
        <p:nvGraphicFramePr>
          <p:cNvPr id="4" name="Chart 0" descr=""/>
          <p:cNvGraphicFramePr/>
          <p:nvPr/>
        </p:nvGraphicFramePr>
        <p:xfrm>
          <a:off x="365760" y="1234440"/>
          <a:ext cx="484632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0" y="1325880"/>
            <a:ext cx="3200400" cy="1371600"/>
          </a:xfrm>
          <a:prstGeom prst="rect">
            <a:avLst/>
          </a:prstGeom>
          <a:solidFill>
            <a:srgbClr val="EFE9F7"/>
          </a:solidFill>
          <a:ln w="12700">
            <a:solidFill>
              <a:srgbClr val="EFE9F7"/>
            </a:solidFill>
            <a:prstDash val="solid"/>
          </a:ln>
        </p:spPr>
      </p:sp>
      <p:sp>
        <p:nvSpPr>
          <p:cNvPr id="6" name="Text 3"/>
          <p:cNvSpPr txBox="1"/>
          <p:nvPr/>
        </p:nvSpPr>
        <p:spPr>
          <a:xfrm>
            <a:off x="5669280" y="1371600"/>
            <a:ext cx="2926080" cy="685800"/>
          </a:xfrm>
          <a:prstGeom prst="rect">
            <a:avLst/>
          </a:prstGeom>
          <a:noFill/>
          <a:ln/>
        </p:spPr>
        <p:txBody>
          <a:bodyPr wrap="square" lIns="0" tIns="0" rIns="0" bIns="0" rtlCol="0" anchor="ctr"/>
          <a:lstStyle/>
          <a:p>
            <a:pPr indent="0" marL="0">
              <a:buNone/>
            </a:pPr>
            <a:r>
              <a:rPr lang="en-US" sz="4000" b="1" dirty="0">
                <a:solidFill>
                  <a:srgbClr val="C2185B"/>
                </a:solidFill>
                <a:latin typeface="Cambria" pitchFamily="34" charset="0"/>
                <a:ea typeface="Cambria" pitchFamily="34" charset="-122"/>
                <a:cs typeface="Cambria" pitchFamily="34" charset="-120"/>
              </a:rPr>
              <a:t>71%</a:t>
            </a:r>
            <a:endParaRPr lang="en-US" sz="4000" dirty="0"/>
          </a:p>
        </p:txBody>
      </p:sp>
      <p:sp>
        <p:nvSpPr>
          <p:cNvPr id="7" name="Text 4"/>
          <p:cNvSpPr txBox="1"/>
          <p:nvPr/>
        </p:nvSpPr>
        <p:spPr>
          <a:xfrm>
            <a:off x="5669280" y="2011680"/>
            <a:ext cx="2926080" cy="6400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of fraud providers caught by Logistic Regression while reviewing only 10% of providers</a:t>
            </a:r>
            <a:endParaRPr lang="en-US" sz="1200" dirty="0"/>
          </a:p>
        </p:txBody>
      </p:sp>
      <p:sp>
        <p:nvSpPr>
          <p:cNvPr id="8" name="Text 5"/>
          <p:cNvSpPr txBox="1"/>
          <p:nvPr/>
        </p:nvSpPr>
        <p:spPr>
          <a:xfrm>
            <a:off x="5486400" y="2880360"/>
            <a:ext cx="3200400" cy="1463040"/>
          </a:xfrm>
          <a:prstGeom prst="rect">
            <a:avLst/>
          </a:prstGeom>
          <a:noFill/>
          <a:ln/>
        </p:spPr>
        <p:txBody>
          <a:bodyPr wrap="square" lIns="0" tIns="0" rIns="0" bIns="0" rtlCol="0" anchor="t"/>
          <a:lstStyle/>
          <a:p>
            <a:pPr indent="0" marL="0">
              <a:buNone/>
            </a:pPr>
            <a:r>
              <a:rPr lang="en-US" sz="1200" b="1" dirty="0">
                <a:solidFill>
                  <a:srgbClr val="222222"/>
                </a:solidFill>
                <a:latin typeface="Calibri" pitchFamily="34" charset="0"/>
                <a:ea typeface="Calibri" pitchFamily="34" charset="-122"/>
                <a:cs typeface="Calibri" pitchFamily="34" charset="-120"/>
              </a:rPr>
              <a:t>Random ranking PR AUC: 0.09</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Isolation Forest used no labels at all, yet scored over 3x random. That matters where confirmed labels do not exist yet.</a:t>
            </a:r>
            <a:endParaRPr lang="en-US" sz="1200" dirty="0"/>
          </a:p>
        </p:txBody>
      </p:sp>
      <p:sp>
        <p:nvSpPr>
          <p:cNvPr id="9" name="Text 6"/>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10" name="Text 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Every flag comes with a reason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666666"/>
                </a:solidFill>
                <a:latin typeface="Calibri" pitchFamily="34" charset="0"/>
                <a:ea typeface="Calibri" pitchFamily="34" charset="-122"/>
                <a:cs typeface="Calibri" pitchFamily="34" charset="-120"/>
              </a:rPr>
              <a:t>Top of the review list (test set), from Logistic Regression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005840"/>
                <a:gridCol w="1097280"/>
                <a:gridCol w="1097280"/>
                <a:gridCol w="731520"/>
                <a:gridCol w="3383280"/>
                <a:gridCol w="914400"/>
              </a:tblGrid>
              <a:tr h="34747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Provider</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Fraud probability</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 billed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Claims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Reason</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Label</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B1F7A"/>
                    </a:solidFill>
                  </a:tcPr>
                </a:tc>
              </a:tr>
              <a:tr h="347472">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PRV56560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$3,212,000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2,313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High claim volume; high total reimbursement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Fraud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PRV52340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$2,540,130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1,743</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High claim volume; high total reimbursement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Fraud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347472">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PRV56416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$2,744,870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1,592</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High claim volume; high total reimbursement</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Calibri" pitchFamily="34" charset="0"/>
                          <a:ea typeface="Calibri" pitchFamily="34" charset="-122"/>
                          <a:cs typeface="Calibri" pitchFamily="34" charset="-120"/>
                        </a:rPr>
                        <a:t>Fraud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2971800"/>
            <a:ext cx="3977640" cy="1463040"/>
          </a:xfrm>
          <a:prstGeom prst="rect">
            <a:avLst/>
          </a:prstGeom>
          <a:solidFill>
            <a:srgbClr val="EFE9F7"/>
          </a:solidFill>
          <a:ln w="12700">
            <a:solidFill>
              <a:srgbClr val="EFE9F7"/>
            </a:solidFill>
            <a:prstDash val="solid"/>
          </a:ln>
        </p:spPr>
      </p:sp>
      <p:sp>
        <p:nvSpPr>
          <p:cNvPr id="6" name="Text 3"/>
          <p:cNvSpPr txBox="1"/>
          <p:nvPr/>
        </p:nvSpPr>
        <p:spPr>
          <a:xfrm>
            <a:off x="640080" y="3063240"/>
            <a:ext cx="3657600" cy="1280160"/>
          </a:xfrm>
          <a:prstGeom prst="rect">
            <a:avLst/>
          </a:prstGeom>
          <a:noFill/>
          <a:ln/>
        </p:spPr>
        <p:txBody>
          <a:bodyPr wrap="square" lIns="0" tIns="0" rIns="0" bIns="0" rtlCol="0" anchor="t"/>
          <a:lstStyle/>
          <a:p>
            <a:pPr indent="0" marL="0">
              <a:buNone/>
            </a:pPr>
            <a:r>
              <a:rPr lang="en-US" sz="1200" b="1" dirty="0">
                <a:solidFill>
                  <a:srgbClr val="3B1F7A"/>
                </a:solidFill>
                <a:latin typeface="Calibri" pitchFamily="34" charset="0"/>
                <a:ea typeface="Calibri" pitchFamily="34" charset="-122"/>
                <a:cs typeface="Calibri" pitchFamily="34" charset="-120"/>
              </a:rPr>
              <a:t>Why it matters</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New state laws say AI may flag, but a person decides. Reasons let reviewers and providers check each flag.</a:t>
            </a:r>
            <a:endParaRPr lang="en-US" sz="1200" dirty="0"/>
          </a:p>
        </p:txBody>
      </p:sp>
      <p:sp>
        <p:nvSpPr>
          <p:cNvPr id="7" name="Shape 4"/>
          <p:cNvSpPr/>
          <p:nvPr/>
        </p:nvSpPr>
        <p:spPr>
          <a:xfrm>
            <a:off x="4709160" y="2971800"/>
            <a:ext cx="3977640" cy="1463040"/>
          </a:xfrm>
          <a:prstGeom prst="rect">
            <a:avLst/>
          </a:prstGeom>
          <a:solidFill>
            <a:srgbClr val="FCEFF4"/>
          </a:solidFill>
          <a:ln w="12700">
            <a:solidFill>
              <a:srgbClr val="FCEFF4"/>
            </a:solidFill>
            <a:prstDash val="solid"/>
          </a:ln>
        </p:spPr>
      </p:sp>
      <p:sp>
        <p:nvSpPr>
          <p:cNvPr id="8" name="Text 5"/>
          <p:cNvSpPr txBox="1"/>
          <p:nvPr/>
        </p:nvSpPr>
        <p:spPr>
          <a:xfrm>
            <a:off x="4892040" y="3063240"/>
            <a:ext cx="3657600" cy="1280160"/>
          </a:xfrm>
          <a:prstGeom prst="rect">
            <a:avLst/>
          </a:prstGeom>
          <a:noFill/>
          <a:ln/>
        </p:spPr>
        <p:txBody>
          <a:bodyPr wrap="square" lIns="0" tIns="0" rIns="0" bIns="0" rtlCol="0" anchor="t"/>
          <a:lstStyle/>
          <a:p>
            <a:pPr indent="0" marL="0">
              <a:buNone/>
            </a:pPr>
            <a:r>
              <a:rPr lang="en-US" sz="1200" b="1" dirty="0">
                <a:solidFill>
                  <a:srgbClr val="C2185B"/>
                </a:solidFill>
                <a:latin typeface="Calibri" pitchFamily="34" charset="0"/>
                <a:ea typeface="Calibri" pitchFamily="34" charset="-122"/>
                <a:cs typeface="Calibri" pitchFamily="34" charset="-120"/>
              </a:rPr>
              <a:t>Honest caveat</a:t>
            </a:r>
            <a:endParaRPr lang="en-US" sz="1200" dirty="0"/>
          </a:p>
          <a:p>
            <a:pPr indent="0" marL="0">
              <a:buNone/>
            </a:pPr>
            <a:r>
              <a:rPr lang="en-US" sz="1200" dirty="0">
                <a:solidFill>
                  <a:srgbClr val="222222"/>
                </a:solidFill>
                <a:latin typeface="Calibri" pitchFamily="34" charset="0"/>
                <a:ea typeface="Calibri" pitchFamily="34" charset="-122"/>
                <a:cs typeface="Calibri" pitchFamily="34" charset="-120"/>
              </a:rPr>
              <a:t>Most reasons are about size. Big honest hospitals can look suspicious too. Fix: compare each provider to peers of similar size and specialty.</a:t>
            </a:r>
            <a:endParaRPr lang="en-US" sz="1200" dirty="0"/>
          </a:p>
        </p:txBody>
      </p:sp>
      <p:sp>
        <p:nvSpPr>
          <p:cNvPr id="9" name="Text 6"/>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10" name="Text 7"/>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SWOT: AI driven anomaly detection for payment</a:t>
            </a:r>
            <a:endParaRPr lang="en-US" sz="2800" dirty="0"/>
          </a:p>
        </p:txBody>
      </p:sp>
      <p:sp>
        <p:nvSpPr>
          <p:cNvPr id="3" name="Shape 1"/>
          <p:cNvSpPr/>
          <p:nvPr/>
        </p:nvSpPr>
        <p:spPr>
          <a:xfrm>
            <a:off x="457200" y="1005840"/>
            <a:ext cx="4023360" cy="1691640"/>
          </a:xfrm>
          <a:prstGeom prst="rect">
            <a:avLst/>
          </a:prstGeom>
          <a:solidFill>
            <a:srgbClr val="EFE9F7"/>
          </a:solidFill>
          <a:ln w="12700">
            <a:solidFill>
              <a:srgbClr val="EFE9F7"/>
            </a:solidFill>
            <a:prstDash val="solid"/>
          </a:ln>
        </p:spPr>
      </p:sp>
      <p:sp>
        <p:nvSpPr>
          <p:cNvPr id="4" name="Text 2"/>
          <p:cNvSpPr txBox="1"/>
          <p:nvPr/>
        </p:nvSpPr>
        <p:spPr>
          <a:xfrm>
            <a:off x="685800" y="1115568"/>
            <a:ext cx="3657600" cy="365760"/>
          </a:xfrm>
          <a:prstGeom prst="rect">
            <a:avLst/>
          </a:prstGeom>
          <a:noFill/>
          <a:ln/>
        </p:spPr>
        <p:txBody>
          <a:bodyPr wrap="square" lIns="0" tIns="0" rIns="0" bIns="0" rtlCol="0" anchor="ctr"/>
          <a:lstStyle/>
          <a:p>
            <a:pPr indent="0" marL="0">
              <a:buNone/>
            </a:pPr>
            <a:r>
              <a:rPr lang="en-US" sz="1800" b="1" dirty="0">
                <a:solidFill>
                  <a:srgbClr val="3B1F7A"/>
                </a:solidFill>
                <a:latin typeface="Cambria" pitchFamily="34" charset="0"/>
                <a:ea typeface="Cambria" pitchFamily="34" charset="-122"/>
                <a:cs typeface="Cambria" pitchFamily="34" charset="-120"/>
              </a:rPr>
              <a:t>Strengths</a:t>
            </a:r>
            <a:endParaRPr lang="en-US" sz="1800" dirty="0"/>
          </a:p>
        </p:txBody>
      </p:sp>
      <p:sp>
        <p:nvSpPr>
          <p:cNvPr id="5" name="Text 3"/>
          <p:cNvSpPr txBox="1"/>
          <p:nvPr/>
        </p:nvSpPr>
        <p:spPr>
          <a:xfrm>
            <a:off x="685800" y="1508760"/>
            <a:ext cx="365760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Scales to millions of claims</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Ranks review queues by risk</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Explainable options exist</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Unsupervised needs no labels</a:t>
            </a:r>
            <a:endParaRPr lang="en-US" sz="1200" dirty="0"/>
          </a:p>
        </p:txBody>
      </p:sp>
      <p:sp>
        <p:nvSpPr>
          <p:cNvPr id="6" name="Shape 4"/>
          <p:cNvSpPr/>
          <p:nvPr/>
        </p:nvSpPr>
        <p:spPr>
          <a:xfrm>
            <a:off x="4663440" y="1005840"/>
            <a:ext cx="4023360" cy="1691640"/>
          </a:xfrm>
          <a:prstGeom prst="rect">
            <a:avLst/>
          </a:prstGeom>
          <a:solidFill>
            <a:srgbClr val="EFE9F7"/>
          </a:solidFill>
          <a:ln w="12700">
            <a:solidFill>
              <a:srgbClr val="EFE9F7"/>
            </a:solidFill>
            <a:prstDash val="solid"/>
          </a:ln>
        </p:spPr>
      </p:sp>
      <p:sp>
        <p:nvSpPr>
          <p:cNvPr id="7" name="Text 5"/>
          <p:cNvSpPr txBox="1"/>
          <p:nvPr/>
        </p:nvSpPr>
        <p:spPr>
          <a:xfrm>
            <a:off x="4892040" y="1115568"/>
            <a:ext cx="3657600" cy="365760"/>
          </a:xfrm>
          <a:prstGeom prst="rect">
            <a:avLst/>
          </a:prstGeom>
          <a:noFill/>
          <a:ln/>
        </p:spPr>
        <p:txBody>
          <a:bodyPr wrap="square" lIns="0" tIns="0" rIns="0" bIns="0" rtlCol="0" anchor="ctr"/>
          <a:lstStyle/>
          <a:p>
            <a:pPr indent="0" marL="0">
              <a:buNone/>
            </a:pPr>
            <a:r>
              <a:rPr lang="en-US" sz="1800" b="1" dirty="0">
                <a:solidFill>
                  <a:srgbClr val="3B1F7A"/>
                </a:solidFill>
                <a:latin typeface="Cambria" pitchFamily="34" charset="0"/>
                <a:ea typeface="Cambria" pitchFamily="34" charset="-122"/>
                <a:cs typeface="Cambria" pitchFamily="34" charset="-120"/>
              </a:rPr>
              <a:t>Weaknesses</a:t>
            </a:r>
            <a:endParaRPr lang="en-US" sz="1800" dirty="0"/>
          </a:p>
        </p:txBody>
      </p:sp>
      <p:sp>
        <p:nvSpPr>
          <p:cNvPr id="8" name="Text 6"/>
          <p:cNvSpPr txBox="1"/>
          <p:nvPr/>
        </p:nvSpPr>
        <p:spPr>
          <a:xfrm>
            <a:off x="4892040" y="1508760"/>
            <a:ext cx="365760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Labels rare and biased</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Unusual is not fraudulent</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Size and specialty confound scores</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Models drift over time</a:t>
            </a:r>
            <a:endParaRPr lang="en-US" sz="1200" dirty="0"/>
          </a:p>
        </p:txBody>
      </p:sp>
      <p:sp>
        <p:nvSpPr>
          <p:cNvPr id="9" name="Shape 7"/>
          <p:cNvSpPr/>
          <p:nvPr/>
        </p:nvSpPr>
        <p:spPr>
          <a:xfrm>
            <a:off x="457200" y="2834640"/>
            <a:ext cx="4023360" cy="1691640"/>
          </a:xfrm>
          <a:prstGeom prst="rect">
            <a:avLst/>
          </a:prstGeom>
          <a:solidFill>
            <a:srgbClr val="FCEFF4"/>
          </a:solidFill>
          <a:ln w="12700">
            <a:solidFill>
              <a:srgbClr val="FCEFF4"/>
            </a:solidFill>
            <a:prstDash val="solid"/>
          </a:ln>
        </p:spPr>
      </p:sp>
      <p:sp>
        <p:nvSpPr>
          <p:cNvPr id="10" name="Text 8"/>
          <p:cNvSpPr txBox="1"/>
          <p:nvPr/>
        </p:nvSpPr>
        <p:spPr>
          <a:xfrm>
            <a:off x="685800" y="2944368"/>
            <a:ext cx="3657600" cy="365760"/>
          </a:xfrm>
          <a:prstGeom prst="rect">
            <a:avLst/>
          </a:prstGeom>
          <a:noFill/>
          <a:ln/>
        </p:spPr>
        <p:txBody>
          <a:bodyPr wrap="square" lIns="0" tIns="0" rIns="0" bIns="0" rtlCol="0" anchor="ctr"/>
          <a:lstStyle/>
          <a:p>
            <a:pPr indent="0" marL="0">
              <a:buNone/>
            </a:pPr>
            <a:r>
              <a:rPr lang="en-US" sz="1800" b="1" dirty="0">
                <a:solidFill>
                  <a:srgbClr val="C2185B"/>
                </a:solidFill>
                <a:latin typeface="Cambria" pitchFamily="34" charset="0"/>
                <a:ea typeface="Cambria" pitchFamily="34" charset="-122"/>
                <a:cs typeface="Cambria" pitchFamily="34" charset="-120"/>
              </a:rPr>
              <a:t>Opportunities</a:t>
            </a:r>
            <a:endParaRPr lang="en-US" sz="1800" dirty="0"/>
          </a:p>
        </p:txBody>
      </p:sp>
      <p:sp>
        <p:nvSpPr>
          <p:cNvPr id="11" name="Text 9"/>
          <p:cNvSpPr txBox="1"/>
          <p:nvPr/>
        </p:nvSpPr>
        <p:spPr>
          <a:xfrm>
            <a:off x="685800" y="3337560"/>
            <a:ext cx="365760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Demand for prepayment review</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Reviewer decisions become labels</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Extend to Treatment, Operations, dental</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AI copilots for reviewers</a:t>
            </a:r>
            <a:endParaRPr lang="en-US" sz="1200" dirty="0"/>
          </a:p>
        </p:txBody>
      </p:sp>
      <p:sp>
        <p:nvSpPr>
          <p:cNvPr id="12" name="Shape 10"/>
          <p:cNvSpPr/>
          <p:nvPr/>
        </p:nvSpPr>
        <p:spPr>
          <a:xfrm>
            <a:off x="4663440" y="2834640"/>
            <a:ext cx="4023360" cy="1691640"/>
          </a:xfrm>
          <a:prstGeom prst="rect">
            <a:avLst/>
          </a:prstGeom>
          <a:solidFill>
            <a:srgbClr val="FCEFF4"/>
          </a:solidFill>
          <a:ln w="12700">
            <a:solidFill>
              <a:srgbClr val="FCEFF4"/>
            </a:solidFill>
            <a:prstDash val="solid"/>
          </a:ln>
        </p:spPr>
      </p:sp>
      <p:sp>
        <p:nvSpPr>
          <p:cNvPr id="13" name="Text 11"/>
          <p:cNvSpPr txBox="1"/>
          <p:nvPr/>
        </p:nvSpPr>
        <p:spPr>
          <a:xfrm>
            <a:off x="4892040" y="2944368"/>
            <a:ext cx="3657600" cy="365760"/>
          </a:xfrm>
          <a:prstGeom prst="rect">
            <a:avLst/>
          </a:prstGeom>
          <a:noFill/>
          <a:ln/>
        </p:spPr>
        <p:txBody>
          <a:bodyPr wrap="square" lIns="0" tIns="0" rIns="0" bIns="0" rtlCol="0" anchor="ctr"/>
          <a:lstStyle/>
          <a:p>
            <a:pPr indent="0" marL="0">
              <a:buNone/>
            </a:pPr>
            <a:r>
              <a:rPr lang="en-US" sz="1800" b="1" dirty="0">
                <a:solidFill>
                  <a:srgbClr val="C2185B"/>
                </a:solidFill>
                <a:latin typeface="Cambria" pitchFamily="34" charset="0"/>
                <a:ea typeface="Cambria" pitchFamily="34" charset="-122"/>
                <a:cs typeface="Cambria" pitchFamily="34" charset="-120"/>
              </a:rPr>
              <a:t>Threats</a:t>
            </a:r>
            <a:endParaRPr lang="en-US" sz="1800" dirty="0"/>
          </a:p>
        </p:txBody>
      </p:sp>
      <p:sp>
        <p:nvSpPr>
          <p:cNvPr id="14" name="Text 12"/>
          <p:cNvSpPr txBox="1"/>
          <p:nvPr/>
        </p:nvSpPr>
        <p:spPr>
          <a:xfrm>
            <a:off x="4892040" y="3337560"/>
            <a:ext cx="365760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State laws limit automated denials</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Political scrutiny of AI in Medicare</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Providers adapt to known edits</a:t>
            </a:r>
            <a:endParaRPr lang="en-US" sz="1200" dirty="0"/>
          </a:p>
          <a:p>
            <a:pPr marL="342900" indent="-342900">
              <a:spcAft>
                <a:spcPts val="300"/>
              </a:spcAft>
              <a:buSzPct val="100000"/>
              <a:buChar char="•"/>
            </a:pPr>
            <a:r>
              <a:rPr lang="en-US" sz="1200" dirty="0">
                <a:solidFill>
                  <a:srgbClr val="222222"/>
                </a:solidFill>
                <a:latin typeface="Calibri" pitchFamily="34" charset="0"/>
                <a:ea typeface="Calibri" pitchFamily="34" charset="-122"/>
                <a:cs typeface="Calibri" pitchFamily="34" charset="-120"/>
              </a:rPr>
              <a:t>AI native competitors</a:t>
            </a:r>
            <a:endParaRPr lang="en-US" sz="1200" dirty="0"/>
          </a:p>
        </p:txBody>
      </p:sp>
      <p:sp>
        <p:nvSpPr>
          <p:cNvPr id="15" name="Text 13"/>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16" name="Text 14"/>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3B1F7A"/>
                </a:solidFill>
                <a:latin typeface="Cambria" pitchFamily="34" charset="0"/>
                <a:ea typeface="Cambria" pitchFamily="34" charset="-122"/>
                <a:cs typeface="Cambria" pitchFamily="34" charset="-120"/>
              </a:rPr>
              <a:t>Options for Cotiviti</a:t>
            </a:r>
            <a:endParaRPr lang="en-US" sz="2800" dirty="0"/>
          </a:p>
        </p:txBody>
      </p:sp>
      <p:sp>
        <p:nvSpPr>
          <p:cNvPr id="3" name="Shape 1"/>
          <p:cNvSpPr/>
          <p:nvPr/>
        </p:nvSpPr>
        <p:spPr>
          <a:xfrm>
            <a:off x="457200" y="1005840"/>
            <a:ext cx="2624328" cy="2743200"/>
          </a:xfrm>
          <a:prstGeom prst="rect">
            <a:avLst/>
          </a:prstGeom>
          <a:solidFill>
            <a:srgbClr val="3B1F7A"/>
          </a:solidFill>
          <a:ln w="12700">
            <a:solidFill>
              <a:srgbClr val="3B1F7A"/>
            </a:solidFill>
            <a:prstDash val="solid"/>
          </a:ln>
        </p:spPr>
      </p:sp>
      <p:sp>
        <p:nvSpPr>
          <p:cNvPr id="4" name="Text 2"/>
          <p:cNvSpPr txBox="1"/>
          <p:nvPr/>
        </p:nvSpPr>
        <p:spPr>
          <a:xfrm>
            <a:off x="640080" y="1143000"/>
            <a:ext cx="2286000" cy="274320"/>
          </a:xfrm>
          <a:prstGeom prst="rect">
            <a:avLst/>
          </a:prstGeom>
          <a:noFill/>
          <a:ln/>
        </p:spPr>
        <p:txBody>
          <a:bodyPr wrap="square" lIns="0" tIns="0" rIns="0" bIns="0" rtlCol="0" anchor="ctr"/>
          <a:lstStyle/>
          <a:p>
            <a:pPr indent="0" marL="0">
              <a:buNone/>
            </a:pPr>
            <a:r>
              <a:rPr lang="en-US" sz="1100" b="1" spc="100" kern="0" dirty="0">
                <a:solidFill>
                  <a:srgbClr val="E8A7C4"/>
                </a:solidFill>
                <a:latin typeface="Calibri" pitchFamily="34" charset="0"/>
                <a:ea typeface="Calibri" pitchFamily="34" charset="-122"/>
                <a:cs typeface="Calibri" pitchFamily="34" charset="-120"/>
              </a:rPr>
              <a:t>Option A  |  PILOT NOW</a:t>
            </a:r>
            <a:endParaRPr lang="en-US" sz="1100" dirty="0"/>
          </a:p>
        </p:txBody>
      </p:sp>
      <p:sp>
        <p:nvSpPr>
          <p:cNvPr id="5" name="Text 3"/>
          <p:cNvSpPr txBox="1"/>
          <p:nvPr/>
        </p:nvSpPr>
        <p:spPr>
          <a:xfrm>
            <a:off x="640080" y="1463040"/>
            <a:ext cx="2286000" cy="73152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Explainable review queue prioritization</a:t>
            </a:r>
            <a:endParaRPr lang="en-US" sz="1600" dirty="0"/>
          </a:p>
        </p:txBody>
      </p:sp>
      <p:sp>
        <p:nvSpPr>
          <p:cNvPr id="6" name="Text 4"/>
          <p:cNvSpPr txBox="1"/>
          <p:nvPr/>
        </p:nvSpPr>
        <p:spPr>
          <a:xfrm>
            <a:off x="640080" y="2240280"/>
            <a:ext cx="2286000" cy="1417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Risk score plus reason codes on top of existing edits. 90 day test on one client's historical claims. Metric: improper dollars per reviewer hour.</a:t>
            </a:r>
            <a:endParaRPr lang="en-US" sz="1200" dirty="0"/>
          </a:p>
        </p:txBody>
      </p:sp>
      <p:sp>
        <p:nvSpPr>
          <p:cNvPr id="7" name="Shape 5"/>
          <p:cNvSpPr/>
          <p:nvPr/>
        </p:nvSpPr>
        <p:spPr>
          <a:xfrm>
            <a:off x="3264408" y="1005840"/>
            <a:ext cx="2624328" cy="2743200"/>
          </a:xfrm>
          <a:prstGeom prst="rect">
            <a:avLst/>
          </a:prstGeom>
          <a:solidFill>
            <a:srgbClr val="EFE9F7"/>
          </a:solidFill>
          <a:ln w="12700">
            <a:solidFill>
              <a:srgbClr val="EFE9F7"/>
            </a:solidFill>
            <a:prstDash val="solid"/>
          </a:ln>
        </p:spPr>
      </p:sp>
      <p:sp>
        <p:nvSpPr>
          <p:cNvPr id="8" name="Text 6"/>
          <p:cNvSpPr txBox="1"/>
          <p:nvPr/>
        </p:nvSpPr>
        <p:spPr>
          <a:xfrm>
            <a:off x="3447288" y="1143000"/>
            <a:ext cx="2286000" cy="274320"/>
          </a:xfrm>
          <a:prstGeom prst="rect">
            <a:avLst/>
          </a:prstGeom>
          <a:noFill/>
          <a:ln/>
        </p:spPr>
        <p:txBody>
          <a:bodyPr wrap="square" lIns="0" tIns="0" rIns="0" bIns="0" rtlCol="0" anchor="ctr"/>
          <a:lstStyle/>
          <a:p>
            <a:pPr indent="0" marL="0">
              <a:buNone/>
            </a:pPr>
            <a:r>
              <a:rPr lang="en-US" sz="1100" b="1" spc="100" kern="0" dirty="0">
                <a:solidFill>
                  <a:srgbClr val="C2185B"/>
                </a:solidFill>
                <a:latin typeface="Calibri" pitchFamily="34" charset="0"/>
                <a:ea typeface="Calibri" pitchFamily="34" charset="-122"/>
                <a:cs typeface="Calibri" pitchFamily="34" charset="-120"/>
              </a:rPr>
              <a:t>Option B  |  INVEST</a:t>
            </a:r>
            <a:endParaRPr lang="en-US" sz="1100" dirty="0"/>
          </a:p>
        </p:txBody>
      </p:sp>
      <p:sp>
        <p:nvSpPr>
          <p:cNvPr id="9" name="Text 7"/>
          <p:cNvSpPr txBox="1"/>
          <p:nvPr/>
        </p:nvSpPr>
        <p:spPr>
          <a:xfrm>
            <a:off x="3447288" y="1463040"/>
            <a:ext cx="2286000" cy="731520"/>
          </a:xfrm>
          <a:prstGeom prst="rect">
            <a:avLst/>
          </a:prstGeom>
          <a:noFill/>
          <a:ln/>
        </p:spPr>
        <p:txBody>
          <a:bodyPr wrap="square" lIns="0" tIns="0" rIns="0" bIns="0" rtlCol="0" anchor="t"/>
          <a:lstStyle/>
          <a:p>
            <a:pPr indent="0" marL="0">
              <a:buNone/>
            </a:pPr>
            <a:r>
              <a:rPr lang="en-US" sz="1600" b="1" dirty="0">
                <a:solidFill>
                  <a:srgbClr val="3B1F7A"/>
                </a:solidFill>
                <a:latin typeface="Cambria" pitchFamily="34" charset="0"/>
                <a:ea typeface="Cambria" pitchFamily="34" charset="-122"/>
                <a:cs typeface="Cambria" pitchFamily="34" charset="-120"/>
              </a:rPr>
              <a:t>Hybrid model with a feedback loop</a:t>
            </a:r>
            <a:endParaRPr lang="en-US" sz="1600" dirty="0"/>
          </a:p>
        </p:txBody>
      </p:sp>
      <p:sp>
        <p:nvSpPr>
          <p:cNvPr id="10" name="Text 8"/>
          <p:cNvSpPr txBox="1"/>
          <p:nvPr/>
        </p:nvSpPr>
        <p:spPr>
          <a:xfrm>
            <a:off x="3447288" y="2240280"/>
            <a:ext cx="2286000" cy="141732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Unsupervised for new patterns, supervised for known ones. Every reviewer decision becomes a label: a data asset competitors cannot copy.</a:t>
            </a:r>
            <a:endParaRPr lang="en-US" sz="1200" dirty="0"/>
          </a:p>
        </p:txBody>
      </p:sp>
      <p:sp>
        <p:nvSpPr>
          <p:cNvPr id="11" name="Shape 9"/>
          <p:cNvSpPr/>
          <p:nvPr/>
        </p:nvSpPr>
        <p:spPr>
          <a:xfrm>
            <a:off x="6071616" y="1005840"/>
            <a:ext cx="2624328" cy="2743200"/>
          </a:xfrm>
          <a:prstGeom prst="rect">
            <a:avLst/>
          </a:prstGeom>
          <a:solidFill>
            <a:srgbClr val="EFE9F7"/>
          </a:solidFill>
          <a:ln w="12700">
            <a:solidFill>
              <a:srgbClr val="EFE9F7"/>
            </a:solidFill>
            <a:prstDash val="solid"/>
          </a:ln>
        </p:spPr>
      </p:sp>
      <p:sp>
        <p:nvSpPr>
          <p:cNvPr id="12" name="Text 10"/>
          <p:cNvSpPr txBox="1"/>
          <p:nvPr/>
        </p:nvSpPr>
        <p:spPr>
          <a:xfrm>
            <a:off x="6254496" y="1143000"/>
            <a:ext cx="2286000" cy="274320"/>
          </a:xfrm>
          <a:prstGeom prst="rect">
            <a:avLst/>
          </a:prstGeom>
          <a:noFill/>
          <a:ln/>
        </p:spPr>
        <p:txBody>
          <a:bodyPr wrap="square" lIns="0" tIns="0" rIns="0" bIns="0" rtlCol="0" anchor="ctr"/>
          <a:lstStyle/>
          <a:p>
            <a:pPr indent="0" marL="0">
              <a:buNone/>
            </a:pPr>
            <a:r>
              <a:rPr lang="en-US" sz="1100" b="1" spc="100" kern="0" dirty="0">
                <a:solidFill>
                  <a:srgbClr val="C2185B"/>
                </a:solidFill>
                <a:latin typeface="Calibri" pitchFamily="34" charset="0"/>
                <a:ea typeface="Calibri" pitchFamily="34" charset="-122"/>
                <a:cs typeface="Calibri" pitchFamily="34" charset="-120"/>
              </a:rPr>
              <a:t>Option C  |  POSITION</a:t>
            </a:r>
            <a:endParaRPr lang="en-US" sz="1100" dirty="0"/>
          </a:p>
        </p:txBody>
      </p:sp>
      <p:sp>
        <p:nvSpPr>
          <p:cNvPr id="13" name="Text 11"/>
          <p:cNvSpPr txBox="1"/>
          <p:nvPr/>
        </p:nvSpPr>
        <p:spPr>
          <a:xfrm>
            <a:off x="6254496" y="1463040"/>
            <a:ext cx="2286000" cy="731520"/>
          </a:xfrm>
          <a:prstGeom prst="rect">
            <a:avLst/>
          </a:prstGeom>
          <a:noFill/>
          <a:ln/>
        </p:spPr>
        <p:txBody>
          <a:bodyPr wrap="square" lIns="0" tIns="0" rIns="0" bIns="0" rtlCol="0" anchor="t"/>
          <a:lstStyle/>
          <a:p>
            <a:pPr indent="0" marL="0">
              <a:buNone/>
            </a:pPr>
            <a:r>
              <a:rPr lang="en-US" sz="1600" b="1" dirty="0">
                <a:solidFill>
                  <a:srgbClr val="3B1F7A"/>
                </a:solidFill>
                <a:latin typeface="Cambria" pitchFamily="34" charset="0"/>
                <a:ea typeface="Cambria" pitchFamily="34" charset="-122"/>
                <a:cs typeface="Cambria" pitchFamily="34" charset="-120"/>
              </a:rPr>
              <a:t>Compliant by design</a:t>
            </a:r>
            <a:endParaRPr lang="en-US" sz="1600" dirty="0"/>
          </a:p>
        </p:txBody>
      </p:sp>
      <p:sp>
        <p:nvSpPr>
          <p:cNvPr id="14" name="Text 12"/>
          <p:cNvSpPr txBox="1"/>
          <p:nvPr/>
        </p:nvSpPr>
        <p:spPr>
          <a:xfrm>
            <a:off x="6254496" y="2240280"/>
            <a:ext cx="2286000" cy="141732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Human review, reason codes, and audit trails on every AI flag. Turns state regulation into a selling point.</a:t>
            </a:r>
            <a:endParaRPr lang="en-US" sz="1200" dirty="0"/>
          </a:p>
        </p:txBody>
      </p:sp>
      <p:sp>
        <p:nvSpPr>
          <p:cNvPr id="15" name="Text 13"/>
          <p:cNvSpPr txBox="1"/>
          <p:nvPr/>
        </p:nvSpPr>
        <p:spPr>
          <a:xfrm>
            <a:off x="457200" y="3931920"/>
            <a:ext cx="8229600" cy="640080"/>
          </a:xfrm>
          <a:prstGeom prst="rect">
            <a:avLst/>
          </a:prstGeom>
          <a:noFill/>
          <a:ln/>
        </p:spPr>
        <p:txBody>
          <a:bodyPr wrap="square" lIns="0" tIns="0" rIns="0" bIns="0" rtlCol="0" anchor="ctr"/>
          <a:lstStyle/>
          <a:p>
            <a:pPr indent="0" marL="0">
              <a:buNone/>
            </a:pPr>
            <a:r>
              <a:rPr lang="en-US" sz="1300" b="1" dirty="0">
                <a:solidFill>
                  <a:srgbClr val="C2185B"/>
                </a:solidFill>
                <a:latin typeface="Calibri" pitchFamily="34" charset="0"/>
                <a:ea typeface="Calibri" pitchFamily="34" charset="-122"/>
                <a:cs typeface="Calibri" pitchFamily="34" charset="-120"/>
              </a:rPr>
              <a:t>Recommendation: </a:t>
            </a:r>
            <a:pPr indent="0" marL="0">
              <a:buNone/>
            </a:pPr>
            <a:r>
              <a:rPr lang="en-US" sz="1300" dirty="0">
                <a:solidFill>
                  <a:srgbClr val="222222"/>
                </a:solidFill>
                <a:latin typeface="Calibri" pitchFamily="34" charset="0"/>
                <a:ea typeface="Calibri" pitchFamily="34" charset="-122"/>
                <a:cs typeface="Calibri" pitchFamily="34" charset="-120"/>
              </a:rPr>
              <a:t>start with A now, design it to capture reviewer decisions for B, and market C across both. Monitor agentic AI reviewer copilots as guardrails settle.</a:t>
            </a:r>
            <a:endParaRPr lang="en-US" sz="1300" dirty="0"/>
          </a:p>
        </p:txBody>
      </p:sp>
      <p:sp>
        <p:nvSpPr>
          <p:cNvPr id="16" name="Text 14"/>
          <p:cNvSpPr txBox="1"/>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rgbClr val="999999"/>
                </a:solidFill>
                <a:latin typeface="Calibri" pitchFamily="34" charset="0"/>
                <a:ea typeface="Calibri" pitchFamily="34" charset="-122"/>
                <a:cs typeface="Calibri" pitchFamily="34" charset="-120"/>
              </a:rPr>
              <a:t>Rhutika Patil  |  Cotiviti Intern Assessment</a:t>
            </a:r>
            <a:endParaRPr lang="en-US" sz="900" dirty="0"/>
          </a:p>
        </p:txBody>
      </p:sp>
      <p:sp>
        <p:nvSpPr>
          <p:cNvPr id="17" name="Text 15"/>
          <p:cNvSpPr txBox="1"/>
          <p:nvPr/>
        </p:nvSpPr>
        <p:spPr>
          <a:xfrm>
            <a:off x="8229600" y="4800600"/>
            <a:ext cx="457200" cy="228600"/>
          </a:xfrm>
          <a:prstGeom prst="rect">
            <a:avLst/>
          </a:prstGeom>
          <a:noFill/>
          <a:ln/>
        </p:spPr>
        <p:txBody>
          <a:bodyPr wrap="square" lIns="0" tIns="0" rIns="0" bIns="0" rtlCol="0" anchor="ctr"/>
          <a:lstStyle/>
          <a:p>
            <a:pPr algn="r" indent="0" marL="0">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1254"/>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steps</a:t>
            </a:r>
            <a:endParaRPr lang="en-US" sz="3000" dirty="0"/>
          </a:p>
        </p:txBody>
      </p:sp>
      <p:sp>
        <p:nvSpPr>
          <p:cNvPr id="3" name="Shape 1"/>
          <p:cNvSpPr/>
          <p:nvPr/>
        </p:nvSpPr>
        <p:spPr>
          <a:xfrm>
            <a:off x="548640" y="1371600"/>
            <a:ext cx="411480" cy="411480"/>
          </a:xfrm>
          <a:prstGeom prst="ellipse">
            <a:avLst/>
          </a:prstGeom>
          <a:solidFill>
            <a:srgbClr val="C2185B"/>
          </a:solidFill>
          <a:ln w="12700">
            <a:solidFill>
              <a:srgbClr val="C2185B"/>
            </a:solidFill>
            <a:prstDash val="solid"/>
          </a:ln>
        </p:spPr>
      </p:sp>
      <p:sp>
        <p:nvSpPr>
          <p:cNvPr id="4" name="Text 2"/>
          <p:cNvSpPr txBox="1"/>
          <p:nvPr/>
        </p:nvSpPr>
        <p:spPr>
          <a:xfrm>
            <a:off x="548640" y="13716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43000" y="132588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Peer groups</a:t>
            </a:r>
            <a:endParaRPr lang="en-US" sz="1600" dirty="0"/>
          </a:p>
        </p:txBody>
      </p:sp>
      <p:sp>
        <p:nvSpPr>
          <p:cNvPr id="6" name="Text 4"/>
          <p:cNvSpPr txBox="1"/>
          <p:nvPr/>
        </p:nvSpPr>
        <p:spPr>
          <a:xfrm>
            <a:off x="1143000" y="1645920"/>
            <a:ext cx="6858000" cy="274320"/>
          </a:xfrm>
          <a:prstGeom prst="rect">
            <a:avLst/>
          </a:prstGeom>
          <a:noFill/>
          <a:ln/>
        </p:spPr>
        <p:txBody>
          <a:bodyPr wrap="square" lIns="0" tIns="0" rIns="0" bIns="0" rtlCol="0" anchor="ctr"/>
          <a:lstStyle/>
          <a:p>
            <a:pPr indent="0" marL="0">
              <a:buNone/>
            </a:pPr>
            <a:r>
              <a:rPr lang="en-US" sz="1200" dirty="0">
                <a:solidFill>
                  <a:srgbClr val="D9D2EC"/>
                </a:solidFill>
                <a:latin typeface="Calibri" pitchFamily="34" charset="0"/>
                <a:ea typeface="Calibri" pitchFamily="34" charset="-122"/>
                <a:cs typeface="Calibri" pitchFamily="34" charset="-120"/>
              </a:rPr>
              <a:t>Compare providers to others of the same specialty, region, and size</a:t>
            </a:r>
            <a:endParaRPr lang="en-US" sz="1200" dirty="0"/>
          </a:p>
        </p:txBody>
      </p:sp>
      <p:sp>
        <p:nvSpPr>
          <p:cNvPr id="7" name="Shape 5"/>
          <p:cNvSpPr/>
          <p:nvPr/>
        </p:nvSpPr>
        <p:spPr>
          <a:xfrm>
            <a:off x="548640" y="2194560"/>
            <a:ext cx="411480" cy="411480"/>
          </a:xfrm>
          <a:prstGeom prst="ellipse">
            <a:avLst/>
          </a:prstGeom>
          <a:solidFill>
            <a:srgbClr val="C2185B"/>
          </a:solidFill>
          <a:ln w="12700">
            <a:solidFill>
              <a:srgbClr val="C2185B"/>
            </a:solidFill>
            <a:prstDash val="solid"/>
          </a:ln>
        </p:spPr>
      </p:sp>
      <p:sp>
        <p:nvSpPr>
          <p:cNvPr id="8" name="Text 6"/>
          <p:cNvSpPr txBox="1"/>
          <p:nvPr/>
        </p:nvSpPr>
        <p:spPr>
          <a:xfrm>
            <a:off x="548640" y="219456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14884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Claim level checks</a:t>
            </a:r>
            <a:endParaRPr lang="en-US" sz="1600" dirty="0"/>
          </a:p>
        </p:txBody>
      </p:sp>
      <p:sp>
        <p:nvSpPr>
          <p:cNvPr id="10" name="Text 8"/>
          <p:cNvSpPr txBox="1"/>
          <p:nvPr/>
        </p:nvSpPr>
        <p:spPr>
          <a:xfrm>
            <a:off x="1143000" y="2468880"/>
            <a:ext cx="6858000" cy="274320"/>
          </a:xfrm>
          <a:prstGeom prst="rect">
            <a:avLst/>
          </a:prstGeom>
          <a:noFill/>
          <a:ln/>
        </p:spPr>
        <p:txBody>
          <a:bodyPr wrap="square" lIns="0" tIns="0" rIns="0" bIns="0" rtlCol="0" anchor="ctr"/>
          <a:lstStyle/>
          <a:p>
            <a:pPr indent="0" marL="0">
              <a:buNone/>
            </a:pPr>
            <a:r>
              <a:rPr lang="en-US" sz="1200" dirty="0">
                <a:solidFill>
                  <a:srgbClr val="D9D2EC"/>
                </a:solidFill>
                <a:latin typeface="Calibri" pitchFamily="34" charset="0"/>
                <a:ea typeface="Calibri" pitchFamily="34" charset="-122"/>
                <a:cs typeface="Calibri" pitchFamily="34" charset="-120"/>
              </a:rPr>
              <a:t>Unbundling, upcoding, and billing after date of death, before payment</a:t>
            </a:r>
            <a:endParaRPr lang="en-US" sz="1200" dirty="0"/>
          </a:p>
        </p:txBody>
      </p:sp>
      <p:sp>
        <p:nvSpPr>
          <p:cNvPr id="11" name="Shape 9"/>
          <p:cNvSpPr/>
          <p:nvPr/>
        </p:nvSpPr>
        <p:spPr>
          <a:xfrm>
            <a:off x="548640" y="3017520"/>
            <a:ext cx="411480" cy="411480"/>
          </a:xfrm>
          <a:prstGeom prst="ellipse">
            <a:avLst/>
          </a:prstGeom>
          <a:solidFill>
            <a:srgbClr val="C2185B"/>
          </a:solidFill>
          <a:ln w="12700">
            <a:solidFill>
              <a:srgbClr val="C2185B"/>
            </a:solidFill>
            <a:prstDash val="solid"/>
          </a:ln>
        </p:spPr>
      </p:sp>
      <p:sp>
        <p:nvSpPr>
          <p:cNvPr id="12" name="Text 10"/>
          <p:cNvSpPr txBox="1"/>
          <p:nvPr/>
        </p:nvSpPr>
        <p:spPr>
          <a:xfrm>
            <a:off x="548640" y="301752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143000" y="2971800"/>
            <a:ext cx="6858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Real validation</a:t>
            </a:r>
            <a:endParaRPr lang="en-US" sz="1600" dirty="0"/>
          </a:p>
        </p:txBody>
      </p:sp>
      <p:sp>
        <p:nvSpPr>
          <p:cNvPr id="14" name="Text 12"/>
          <p:cNvSpPr txBox="1"/>
          <p:nvPr/>
        </p:nvSpPr>
        <p:spPr>
          <a:xfrm>
            <a:off x="1143000" y="3291840"/>
            <a:ext cx="6858000" cy="274320"/>
          </a:xfrm>
          <a:prstGeom prst="rect">
            <a:avLst/>
          </a:prstGeom>
          <a:noFill/>
          <a:ln/>
        </p:spPr>
        <p:txBody>
          <a:bodyPr wrap="square" lIns="0" tIns="0" rIns="0" bIns="0" rtlCol="0" anchor="ctr"/>
          <a:lstStyle/>
          <a:p>
            <a:pPr indent="0" marL="0">
              <a:buNone/>
            </a:pPr>
            <a:r>
              <a:rPr lang="en-US" sz="1200" dirty="0">
                <a:solidFill>
                  <a:srgbClr val="D9D2EC"/>
                </a:solidFill>
                <a:latin typeface="Calibri" pitchFamily="34" charset="0"/>
                <a:ea typeface="Calibri" pitchFamily="34" charset="-122"/>
                <a:cs typeface="Calibri" pitchFamily="34" charset="-120"/>
              </a:rPr>
              <a:t>Cross validation, tree models, and a client's confirmed audit outcomes</a:t>
            </a:r>
            <a:endParaRPr lang="en-US" sz="1200" dirty="0"/>
          </a:p>
        </p:txBody>
      </p:sp>
      <p:sp>
        <p:nvSpPr>
          <p:cNvPr id="15" name="Text 13"/>
          <p:cNvSpPr txBox="1"/>
          <p:nvPr/>
        </p:nvSpPr>
        <p:spPr>
          <a:xfrm>
            <a:off x="548640" y="3931920"/>
            <a:ext cx="4572000" cy="548640"/>
          </a:xfrm>
          <a:prstGeom prst="rect">
            <a:avLst/>
          </a:prstGeom>
          <a:noFill/>
          <a:ln/>
        </p:spPr>
        <p:txBody>
          <a:bodyPr wrap="square" lIns="0" tIns="0" rIns="0" bIns="0" rtlCol="0" anchor="ctr"/>
          <a:lstStyle/>
          <a:p>
            <a:pPr indent="0" marL="0">
              <a:buNone/>
            </a:pPr>
            <a:r>
              <a:rPr lang="en-US" sz="2600" b="1" dirty="0">
                <a:solidFill>
                  <a:srgbClr val="E8A7C4"/>
                </a:solidFill>
                <a:latin typeface="Cambria" pitchFamily="34" charset="0"/>
                <a:ea typeface="Cambria" pitchFamily="34" charset="-122"/>
                <a:cs typeface="Cambria" pitchFamily="34" charset="-120"/>
              </a:rPr>
              <a:t>Thank you</a:t>
            </a:r>
            <a:endParaRPr lang="en-US" sz="2600" dirty="0"/>
          </a:p>
        </p:txBody>
      </p:sp>
      <p:sp>
        <p:nvSpPr>
          <p:cNvPr id="16" name="Text 14"/>
          <p:cNvSpPr txBox="1"/>
          <p:nvPr/>
        </p:nvSpPr>
        <p:spPr>
          <a:xfrm>
            <a:off x="4572000" y="4069080"/>
            <a:ext cx="4114800" cy="365760"/>
          </a:xfrm>
          <a:prstGeom prst="rect">
            <a:avLst/>
          </a:prstGeom>
          <a:noFill/>
          <a:ln/>
        </p:spPr>
        <p:txBody>
          <a:bodyPr wrap="square" lIns="0" tIns="0" rIns="0" bIns="0" rtlCol="0" anchor="ctr"/>
          <a:lstStyle/>
          <a:p>
            <a:pPr algn="r" indent="0" marL="0">
              <a:buNone/>
            </a:pPr>
            <a:r>
              <a:rPr lang="en-US" sz="1100" dirty="0">
                <a:solidFill>
                  <a:srgbClr val="B9AED6"/>
                </a:solidFill>
                <a:latin typeface="Calibri" pitchFamily="34" charset="0"/>
                <a:ea typeface="Calibri" pitchFamily="34" charset="-122"/>
                <a:cs typeface="Calibri" pitchFamily="34" charset="-120"/>
              </a:rPr>
              <a:t>Code, report, and notebook in the GitHub repository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 Recognition for Payment Integrity</dc:title>
  <dc:subject>PptxGenJS Presentation</dc:subject>
  <dc:creator>PptxGenJS</dc:creator>
  <cp:lastModifiedBy>PptxGenJS</cp:lastModifiedBy>
  <cp:revision>1</cp:revision>
  <dcterms:created xsi:type="dcterms:W3CDTF">2026-09-28T22:48:04Z</dcterms:created>
  <dcterms:modified xsi:type="dcterms:W3CDTF">2026-09-28T22:48:04Z</dcterms:modified>
</cp:coreProperties>
</file>